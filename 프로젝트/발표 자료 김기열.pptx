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74" r:id="rId2"/>
    <p:sldId id="256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75" r:id="rId12"/>
    <p:sldId id="265" r:id="rId13"/>
    <p:sldId id="266" r:id="rId14"/>
    <p:sldId id="276" r:id="rId15"/>
    <p:sldId id="267" r:id="rId16"/>
    <p:sldId id="268" r:id="rId17"/>
    <p:sldId id="269" r:id="rId18"/>
    <p:sldId id="270" r:id="rId19"/>
    <p:sldId id="278" r:id="rId20"/>
    <p:sldId id="281" r:id="rId21"/>
    <p:sldId id="279" r:id="rId22"/>
    <p:sldId id="282" r:id="rId23"/>
    <p:sldId id="283" r:id="rId24"/>
    <p:sldId id="284" r:id="rId25"/>
    <p:sldId id="28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727" autoAdjust="0"/>
  </p:normalViewPr>
  <p:slideViewPr>
    <p:cSldViewPr snapToGrid="0" snapToObjects="1">
      <p:cViewPr varScale="1">
        <p:scale>
          <a:sx n="82" d="100"/>
          <a:sy n="82" d="100"/>
        </p:scale>
        <p:origin x="974" y="45"/>
      </p:cViewPr>
      <p:guideLst>
        <p:guide orient="horz" pos="2160"/>
        <p:guide pos="2880"/>
      </p:guideLst>
    </p:cSldViewPr>
  </p:slideViewPr>
  <p:notesTextViewPr>
    <p:cViewPr>
      <p:scale>
        <a:sx n="98" d="100"/>
        <a:sy n="98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37CC2-BDBA-4D95-96AF-D77823F7AB9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B5D0B-1C76-4BCC-B93E-260FB35EB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48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.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쇼핑몰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의도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미니</a:t>
            </a:r>
            <a:r>
              <a:rPr dirty="0"/>
              <a:t> </a:t>
            </a:r>
            <a:r>
              <a:rPr dirty="0" err="1"/>
              <a:t>프로젝트를</a:t>
            </a:r>
            <a:r>
              <a:rPr dirty="0"/>
              <a:t> </a:t>
            </a:r>
            <a:r>
              <a:rPr dirty="0" err="1"/>
              <a:t>발표하겠습니다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프로젝트에서는</a:t>
            </a:r>
            <a:r>
              <a:rPr dirty="0"/>
              <a:t> </a:t>
            </a: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쇼핑몰에서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페이지를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머무르는지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분석해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예측했습니다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탐색부터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,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예측한</a:t>
            </a:r>
            <a:r>
              <a:rPr dirty="0"/>
              <a:t> </a:t>
            </a:r>
            <a:r>
              <a:rPr dirty="0" err="1"/>
              <a:t>사례까지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설명드리겠습니다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516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b="0" dirty="0"/>
              <a:t>이번 프로젝트의 목표는 고객의 쇼핑몰 방문 행동을 분석해 실제 구매 여부를 예측하는 것입니다.</a:t>
            </a:r>
          </a:p>
          <a:p>
            <a:r>
              <a:rPr lang="ko-KR" altLang="ko-KR" b="0" dirty="0"/>
              <a:t>특히 실제 구매 고객을 최대한 놓치지 않는 것을 중요하게 생각했습니다.</a:t>
            </a:r>
          </a:p>
          <a:p>
            <a:r>
              <a:rPr lang="ko-KR" altLang="ko-KR" b="0" dirty="0"/>
              <a:t>그래서 실제 구매 고객을 얼마나 잘 찾아내는지 나타내는 </a:t>
            </a:r>
            <a:r>
              <a:rPr lang="ko-KR" altLang="ko-KR" b="0" dirty="0" err="1"/>
              <a:t>Recall</a:t>
            </a:r>
            <a:r>
              <a:rPr lang="ko-KR" altLang="ko-KR" b="0" dirty="0"/>
              <a:t>, 즉 재현율을 핵심 지표로 설정했습니다.</a:t>
            </a:r>
          </a:p>
          <a:p>
            <a:r>
              <a:rPr lang="ko-KR" altLang="ko-KR" b="0" dirty="0"/>
              <a:t>다만 재현율만 높이면 구매하지 않을 고객을 구매한다고 잘못 예측하는 경우도 늘어날 수 있기 때문에, F1-score와 정확도도 함께 고려하면서 성능을 개선했습니다.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44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사용한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쇼핑몰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12,330개입니다. </a:t>
            </a:r>
            <a:endParaRPr lang="en-US" dirty="0"/>
          </a:p>
          <a:p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변수는</a:t>
            </a:r>
            <a:r>
              <a:rPr dirty="0"/>
              <a:t> 17개이고, </a:t>
            </a:r>
            <a:endParaRPr lang="en-US" dirty="0"/>
          </a:p>
          <a:p>
            <a:r>
              <a:rPr dirty="0" err="1"/>
              <a:t>예측할</a:t>
            </a:r>
            <a:r>
              <a:rPr dirty="0"/>
              <a:t> </a:t>
            </a:r>
            <a:r>
              <a:rPr dirty="0" err="1"/>
              <a:t>정답은</a:t>
            </a:r>
            <a:r>
              <a:rPr dirty="0"/>
              <a:t> Revenue, 즉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PageValues는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</a:t>
            </a:r>
            <a:r>
              <a:rPr dirty="0"/>
              <a:t>, </a:t>
            </a:r>
            <a:r>
              <a:rPr dirty="0" err="1"/>
              <a:t>ProductRelated는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수, </a:t>
            </a:r>
            <a:r>
              <a:rPr dirty="0" err="1"/>
              <a:t>ExitRates는</a:t>
            </a:r>
            <a:r>
              <a:rPr dirty="0"/>
              <a:t> </a:t>
            </a:r>
            <a:r>
              <a:rPr dirty="0" err="1"/>
              <a:t>사이트에서</a:t>
            </a:r>
            <a:r>
              <a:rPr dirty="0"/>
              <a:t> </a:t>
            </a:r>
            <a:r>
              <a:rPr dirty="0" err="1"/>
              <a:t>나가는</a:t>
            </a:r>
            <a:r>
              <a:rPr dirty="0"/>
              <a:t> </a:t>
            </a:r>
            <a:r>
              <a:rPr dirty="0" err="1"/>
              <a:t>경향을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변수입니다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이외에도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월과</a:t>
            </a:r>
            <a:r>
              <a:rPr dirty="0"/>
              <a:t> </a:t>
            </a:r>
            <a:r>
              <a:rPr dirty="0" err="1"/>
              <a:t>신규·재방문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사용했습니다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83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비율을</a:t>
            </a:r>
            <a:r>
              <a:rPr dirty="0"/>
              <a:t> </a:t>
            </a:r>
            <a:r>
              <a:rPr dirty="0" err="1"/>
              <a:t>살펴봤습니다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비구매는</a:t>
            </a:r>
            <a:r>
              <a:rPr dirty="0"/>
              <a:t> 약 84.5퍼센트, </a:t>
            </a:r>
            <a:r>
              <a:rPr dirty="0" err="1"/>
              <a:t>구매는</a:t>
            </a:r>
            <a:r>
              <a:rPr dirty="0"/>
              <a:t> 약 15.5퍼센트로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컸습니다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불균형</a:t>
            </a:r>
            <a:r>
              <a:rPr dirty="0"/>
              <a:t> </a:t>
            </a:r>
            <a:r>
              <a:rPr dirty="0" err="1"/>
              <a:t>데이터라고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무조건</a:t>
            </a:r>
            <a:r>
              <a:rPr dirty="0"/>
              <a:t> </a:t>
            </a:r>
            <a:r>
              <a:rPr dirty="0" err="1"/>
              <a:t>비구매라고</a:t>
            </a:r>
            <a:r>
              <a:rPr dirty="0"/>
              <a:t> </a:t>
            </a:r>
            <a:r>
              <a:rPr dirty="0" err="1"/>
              <a:t>예측해도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나올</a:t>
            </a:r>
            <a:r>
              <a:rPr dirty="0"/>
              <a:t> 수 </a:t>
            </a:r>
            <a:r>
              <a:rPr dirty="0" err="1"/>
              <a:t>있기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정확도만으로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모델이라고</a:t>
            </a:r>
            <a:r>
              <a:rPr dirty="0"/>
              <a:t> </a:t>
            </a:r>
            <a:r>
              <a:rPr dirty="0" err="1"/>
              <a:t>판단할</a:t>
            </a:r>
            <a:r>
              <a:rPr dirty="0"/>
              <a:t> 수 </a:t>
            </a:r>
            <a:r>
              <a:rPr dirty="0" err="1"/>
              <a:t>없습니다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재현율과</a:t>
            </a:r>
            <a:r>
              <a:rPr dirty="0"/>
              <a:t> F1 </a:t>
            </a:r>
            <a:r>
              <a:rPr dirty="0" err="1"/>
              <a:t>점수도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531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행동이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다른지도</a:t>
            </a:r>
            <a:r>
              <a:rPr dirty="0"/>
              <a:t> </a:t>
            </a:r>
            <a:r>
              <a:rPr dirty="0" err="1"/>
              <a:t>확인했습니다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세션은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페이지를</a:t>
            </a:r>
            <a:r>
              <a:rPr dirty="0"/>
              <a:t> 더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, </a:t>
            </a:r>
            <a:r>
              <a:rPr dirty="0" err="1"/>
              <a:t>PageValues라는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가치도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경향이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반면</a:t>
            </a:r>
            <a:r>
              <a:rPr dirty="0"/>
              <a:t> </a:t>
            </a:r>
            <a:r>
              <a:rPr dirty="0" err="1"/>
              <a:t>비구매</a:t>
            </a:r>
            <a:r>
              <a:rPr dirty="0"/>
              <a:t> </a:t>
            </a:r>
            <a:r>
              <a:rPr dirty="0" err="1"/>
              <a:t>세션은</a:t>
            </a:r>
            <a:r>
              <a:rPr dirty="0"/>
              <a:t> </a:t>
            </a:r>
            <a:r>
              <a:rPr dirty="0" err="1"/>
              <a:t>ExitRates</a:t>
            </a:r>
            <a:r>
              <a:rPr dirty="0"/>
              <a:t>, 즉 </a:t>
            </a:r>
            <a:r>
              <a:rPr dirty="0" err="1"/>
              <a:t>페이지에서</a:t>
            </a:r>
            <a:r>
              <a:rPr dirty="0"/>
              <a:t> </a:t>
            </a:r>
            <a:r>
              <a:rPr dirty="0" err="1"/>
              <a:t>사이트를</a:t>
            </a:r>
            <a:r>
              <a:rPr dirty="0"/>
              <a:t> </a:t>
            </a:r>
            <a:r>
              <a:rPr dirty="0" err="1"/>
              <a:t>떠나는</a:t>
            </a:r>
            <a:r>
              <a:rPr dirty="0"/>
              <a:t> </a:t>
            </a:r>
            <a:r>
              <a:rPr dirty="0" err="1"/>
              <a:t>비율이</a:t>
            </a:r>
            <a:r>
              <a:rPr dirty="0"/>
              <a:t> 더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나타났습니다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이런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예측에</a:t>
            </a:r>
            <a:r>
              <a:rPr dirty="0"/>
              <a:t> </a:t>
            </a:r>
            <a:r>
              <a:rPr dirty="0" err="1"/>
              <a:t>도움이</a:t>
            </a:r>
            <a:r>
              <a:rPr dirty="0"/>
              <a:t> 될 </a:t>
            </a:r>
            <a:r>
              <a:rPr dirty="0" err="1"/>
              <a:t>것으로</a:t>
            </a:r>
            <a:r>
              <a:rPr dirty="0"/>
              <a:t> </a:t>
            </a:r>
            <a:r>
              <a:rPr dirty="0" err="1"/>
              <a:t>생각했습니다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05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방문자</a:t>
            </a:r>
            <a:r>
              <a:rPr dirty="0"/>
              <a:t> </a:t>
            </a:r>
            <a:r>
              <a:rPr dirty="0" err="1"/>
              <a:t>유형과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시점도</a:t>
            </a:r>
            <a:r>
              <a:rPr dirty="0"/>
              <a:t> </a:t>
            </a:r>
            <a:r>
              <a:rPr dirty="0" err="1"/>
              <a:t>살펴봤습니다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방문자의</a:t>
            </a:r>
            <a:r>
              <a:rPr dirty="0"/>
              <a:t> </a:t>
            </a:r>
            <a:r>
              <a:rPr dirty="0" err="1"/>
              <a:t>구매율은</a:t>
            </a:r>
            <a:r>
              <a:rPr dirty="0"/>
              <a:t> 약 24.9퍼센트였고, 11월 </a:t>
            </a:r>
            <a:r>
              <a:rPr dirty="0" err="1"/>
              <a:t>구매율은</a:t>
            </a:r>
            <a:r>
              <a:rPr dirty="0"/>
              <a:t> 약 25.4퍼센트였습니다. </a:t>
            </a:r>
            <a:endParaRPr lang="en-US" dirty="0"/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방문자인지</a:t>
            </a:r>
            <a:r>
              <a:rPr dirty="0"/>
              <a:t>, 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달에</a:t>
            </a:r>
            <a:r>
              <a:rPr dirty="0"/>
              <a:t> </a:t>
            </a:r>
            <a:r>
              <a:rPr dirty="0" err="1"/>
              <a:t>방문했는지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정보도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구분하는</a:t>
            </a:r>
            <a:r>
              <a:rPr dirty="0"/>
              <a:t> 데 </a:t>
            </a:r>
            <a:r>
              <a:rPr dirty="0" err="1"/>
              <a:t>활용할</a:t>
            </a:r>
            <a:r>
              <a:rPr dirty="0"/>
              <a:t> 수 </a:t>
            </a:r>
            <a:r>
              <a:rPr dirty="0" err="1"/>
              <a:t>있다고</a:t>
            </a:r>
            <a:r>
              <a:rPr dirty="0"/>
              <a:t> </a:t>
            </a:r>
            <a:r>
              <a:rPr dirty="0" err="1"/>
              <a:t>판단했습니다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157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변수와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여부의</a:t>
            </a:r>
            <a:r>
              <a:rPr dirty="0"/>
              <a:t> </a:t>
            </a:r>
            <a:r>
              <a:rPr dirty="0" err="1"/>
              <a:t>상관관계도</a:t>
            </a:r>
            <a:r>
              <a:rPr dirty="0"/>
              <a:t> </a:t>
            </a:r>
            <a:r>
              <a:rPr dirty="0" err="1"/>
              <a:t>분석했습니다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PageValues는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여부와</a:t>
            </a:r>
            <a:r>
              <a:rPr dirty="0"/>
              <a:t> </a:t>
            </a:r>
            <a:r>
              <a:rPr dirty="0" err="1"/>
              <a:t>양의</a:t>
            </a:r>
            <a:r>
              <a:rPr dirty="0"/>
              <a:t> </a:t>
            </a:r>
            <a:r>
              <a:rPr dirty="0" err="1"/>
              <a:t>상관관계가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말해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가치가</a:t>
            </a:r>
            <a:r>
              <a:rPr dirty="0"/>
              <a:t> </a:t>
            </a:r>
            <a:r>
              <a:rPr dirty="0" err="1"/>
              <a:t>높을수록</a:t>
            </a:r>
            <a:r>
              <a:rPr dirty="0"/>
              <a:t> </a:t>
            </a:r>
            <a:r>
              <a:rPr dirty="0" err="1"/>
              <a:t>구매한</a:t>
            </a:r>
            <a:r>
              <a:rPr dirty="0"/>
              <a:t> </a:t>
            </a:r>
            <a:r>
              <a:rPr dirty="0" err="1"/>
              <a:t>경우가</a:t>
            </a:r>
            <a:r>
              <a:rPr dirty="0"/>
              <a:t> </a:t>
            </a:r>
            <a:r>
              <a:rPr dirty="0" err="1"/>
              <a:t>많았다는</a:t>
            </a:r>
            <a:r>
              <a:rPr dirty="0"/>
              <a:t> </a:t>
            </a:r>
            <a:r>
              <a:rPr dirty="0" err="1"/>
              <a:t>뜻입니다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반면</a:t>
            </a:r>
            <a:r>
              <a:rPr dirty="0"/>
              <a:t> </a:t>
            </a:r>
            <a:r>
              <a:rPr dirty="0" err="1"/>
              <a:t>ExitRates와</a:t>
            </a:r>
            <a:r>
              <a:rPr dirty="0"/>
              <a:t> </a:t>
            </a:r>
            <a:r>
              <a:rPr dirty="0" err="1"/>
              <a:t>BounceRates는</a:t>
            </a:r>
            <a:r>
              <a:rPr dirty="0"/>
              <a:t> </a:t>
            </a:r>
            <a:r>
              <a:rPr dirty="0" err="1"/>
              <a:t>음의</a:t>
            </a:r>
            <a:r>
              <a:rPr dirty="0"/>
              <a:t> </a:t>
            </a:r>
            <a:r>
              <a:rPr dirty="0" err="1"/>
              <a:t>상관관계를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상관관계가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endParaRPr lang="en-US" dirty="0"/>
          </a:p>
          <a:p>
            <a:r>
              <a:rPr dirty="0"/>
              <a:t>그 </a:t>
            </a:r>
            <a:r>
              <a:rPr dirty="0" err="1"/>
              <a:t>변수가</a:t>
            </a:r>
            <a:r>
              <a:rPr dirty="0"/>
              <a:t> </a:t>
            </a:r>
            <a:r>
              <a:rPr dirty="0" err="1"/>
              <a:t>구매의</a:t>
            </a:r>
            <a:r>
              <a:rPr dirty="0"/>
              <a:t> </a:t>
            </a:r>
            <a:r>
              <a:rPr dirty="0" err="1"/>
              <a:t>직접적인</a:t>
            </a:r>
            <a:r>
              <a:rPr dirty="0"/>
              <a:t> </a:t>
            </a:r>
            <a:r>
              <a:rPr dirty="0" err="1"/>
              <a:t>원인이라는</a:t>
            </a:r>
            <a:r>
              <a:rPr dirty="0"/>
              <a:t> </a:t>
            </a:r>
            <a:r>
              <a:rPr dirty="0" err="1"/>
              <a:t>뜻은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199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학습을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Revenue를</a:t>
            </a:r>
            <a:r>
              <a:rPr dirty="0"/>
              <a:t> </a:t>
            </a:r>
            <a:r>
              <a:rPr dirty="0" err="1"/>
              <a:t>정답인</a:t>
            </a:r>
            <a:r>
              <a:rPr dirty="0"/>
              <a:t> </a:t>
            </a:r>
            <a:r>
              <a:rPr dirty="0" err="1"/>
              <a:t>y로</a:t>
            </a:r>
            <a:r>
              <a:rPr dirty="0"/>
              <a:t>, </a:t>
            </a:r>
            <a:r>
              <a:rPr dirty="0" err="1"/>
              <a:t>나머지</a:t>
            </a:r>
            <a:r>
              <a:rPr dirty="0"/>
              <a:t> </a:t>
            </a:r>
            <a:r>
              <a:rPr dirty="0" err="1"/>
              <a:t>변수를</a:t>
            </a:r>
            <a:r>
              <a:rPr dirty="0"/>
              <a:t> </a:t>
            </a:r>
            <a:r>
              <a:rPr dirty="0" err="1"/>
              <a:t>입력값</a:t>
            </a:r>
            <a:r>
              <a:rPr dirty="0"/>
              <a:t> </a:t>
            </a:r>
            <a:r>
              <a:rPr dirty="0" err="1"/>
              <a:t>X로</a:t>
            </a:r>
            <a:r>
              <a:rPr dirty="0"/>
              <a:t> </a:t>
            </a:r>
            <a:r>
              <a:rPr dirty="0" err="1"/>
              <a:t>분리했습니다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Month나</a:t>
            </a:r>
            <a:r>
              <a:rPr dirty="0"/>
              <a:t> </a:t>
            </a:r>
            <a:r>
              <a:rPr dirty="0" err="1"/>
              <a:t>VisitorType처럼</a:t>
            </a:r>
            <a:r>
              <a:rPr dirty="0"/>
              <a:t> </a:t>
            </a:r>
            <a:r>
              <a:rPr dirty="0" err="1"/>
              <a:t>문자로</a:t>
            </a:r>
            <a:r>
              <a:rPr dirty="0"/>
              <a:t> 된 </a:t>
            </a:r>
            <a:r>
              <a:rPr dirty="0" err="1"/>
              <a:t>범주형</a:t>
            </a:r>
            <a:r>
              <a:rPr dirty="0"/>
              <a:t> </a:t>
            </a:r>
            <a:r>
              <a:rPr dirty="0" err="1"/>
              <a:t>값은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수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숫자로</a:t>
            </a:r>
            <a:r>
              <a:rPr dirty="0"/>
              <a:t> </a:t>
            </a:r>
            <a:r>
              <a:rPr dirty="0" err="1"/>
              <a:t>변환했습니다</a:t>
            </a:r>
            <a:r>
              <a:rPr dirty="0"/>
              <a:t>.</a:t>
            </a:r>
            <a:endParaRPr lang="en-US" dirty="0"/>
          </a:p>
          <a:p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학습용과</a:t>
            </a:r>
            <a:r>
              <a:rPr dirty="0"/>
              <a:t> </a:t>
            </a:r>
            <a:r>
              <a:rPr dirty="0" err="1"/>
              <a:t>테스트용으로</a:t>
            </a:r>
            <a:r>
              <a:rPr dirty="0"/>
              <a:t> </a:t>
            </a:r>
            <a:r>
              <a:rPr dirty="0" err="1"/>
              <a:t>나누고</a:t>
            </a:r>
            <a:r>
              <a:rPr dirty="0"/>
              <a:t>,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안에서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데이터도</a:t>
            </a:r>
            <a:r>
              <a:rPr dirty="0"/>
              <a:t>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만들었습니다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고르는</a:t>
            </a:r>
            <a:r>
              <a:rPr dirty="0"/>
              <a:t> 데 </a:t>
            </a:r>
            <a:r>
              <a:rPr dirty="0" err="1"/>
              <a:t>사용하고</a:t>
            </a:r>
            <a:r>
              <a:rPr dirty="0"/>
              <a:t>,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데 </a:t>
            </a:r>
            <a:r>
              <a:rPr dirty="0" err="1"/>
              <a:t>사용했습니다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60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비교할</a:t>
            </a:r>
            <a:r>
              <a:rPr dirty="0"/>
              <a:t> </a:t>
            </a:r>
            <a:r>
              <a:rPr dirty="0" err="1"/>
              <a:t>기준인</a:t>
            </a:r>
            <a:r>
              <a:rPr dirty="0"/>
              <a:t> Baseline, 즉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만들었습니다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단순한</a:t>
            </a:r>
            <a:r>
              <a:rPr dirty="0"/>
              <a:t> Dummy </a:t>
            </a:r>
            <a:r>
              <a:rPr dirty="0" err="1"/>
              <a:t>모델은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약 84.5퍼센트였지만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한 </a:t>
            </a:r>
            <a:r>
              <a:rPr dirty="0" err="1"/>
              <a:t>명도</a:t>
            </a:r>
            <a:r>
              <a:rPr dirty="0"/>
              <a:t> </a:t>
            </a:r>
            <a:r>
              <a:rPr dirty="0" err="1"/>
              <a:t>찾아내지</a:t>
            </a:r>
            <a:r>
              <a:rPr dirty="0"/>
              <a:t> </a:t>
            </a:r>
            <a:r>
              <a:rPr dirty="0" err="1"/>
              <a:t>못해</a:t>
            </a:r>
            <a:r>
              <a:rPr dirty="0"/>
              <a:t> </a:t>
            </a:r>
            <a:r>
              <a:rPr dirty="0" err="1"/>
              <a:t>재현율이</a:t>
            </a:r>
            <a:r>
              <a:rPr dirty="0"/>
              <a:t> 0이었습니다. </a:t>
            </a:r>
            <a:endParaRPr lang="en-US" dirty="0"/>
          </a:p>
          <a:p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가운데</a:t>
            </a:r>
            <a:r>
              <a:rPr dirty="0"/>
              <a:t> Gradient </a:t>
            </a:r>
            <a:r>
              <a:rPr dirty="0" err="1"/>
              <a:t>Boosting의</a:t>
            </a:r>
            <a:r>
              <a:rPr dirty="0"/>
              <a:t> F1 </a:t>
            </a:r>
            <a:r>
              <a:rPr dirty="0" err="1"/>
              <a:t>점수는</a:t>
            </a:r>
            <a:r>
              <a:rPr dirty="0"/>
              <a:t> 0.6533이었습니다. 이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출발점으로</a:t>
            </a:r>
            <a:r>
              <a:rPr dirty="0"/>
              <a:t> </a:t>
            </a:r>
            <a:r>
              <a:rPr dirty="0" err="1"/>
              <a:t>삼아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개선했습니다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648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성능을 높이기 위해 여러 방법을 실험했습니다.</a:t>
            </a:r>
          </a:p>
          <a:p>
            <a:r>
              <a:t>일부 변수를 제외해 보기도 하고, 구매 고객에 가중치를 다르게 주기도 했습니다.</a:t>
            </a:r>
          </a:p>
          <a:p>
            <a:r>
              <a:t>또한 기존 변수들을 조합해 파생변수를 생성했습니다. 대표적으로 상품 페이지의 평균 체류시간과 전체 방문 중 상품 페이지가 차지하는 방문 비율을 만들었습니다.</a:t>
            </a:r>
          </a:p>
          <a:p>
            <a:r>
              <a:t>이후 DNN 실험에서는 전체 방문 페이지 수, 전체 체류시간, 전체 평균 체류시간, 상품 페이지 체류 비율 등 추가적인 파생변수도 만들어 비교했습니다.</a:t>
            </a:r>
          </a:p>
          <a:p>
            <a:r>
              <a:t>그리고 Optuna라는 파이썬 라이브러리를 활용해 여러 하이퍼파라미터 조합을 자동으로 탐색했습니다.</a:t>
            </a:r>
          </a:p>
          <a:p>
            <a:r>
              <a:t>이 과정에서는 실제 구매가 발생한 세션을 놓치지 않도록 재현율을 중요하게 고려하면서, F1 점수와 정확도도 함께 평가했습니다.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957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Gradient </a:t>
            </a:r>
            <a:r>
              <a:rPr dirty="0" err="1"/>
              <a:t>Boosting에서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가중치를</a:t>
            </a:r>
            <a:r>
              <a:rPr dirty="0"/>
              <a:t> 두 </a:t>
            </a:r>
            <a:r>
              <a:rPr dirty="0" err="1"/>
              <a:t>배로</a:t>
            </a:r>
            <a:r>
              <a:rPr dirty="0"/>
              <a:t> </a:t>
            </a:r>
            <a:r>
              <a:rPr dirty="0" err="1"/>
              <a:t>주자</a:t>
            </a:r>
            <a:r>
              <a:rPr dirty="0"/>
              <a:t> </a:t>
            </a:r>
            <a:r>
              <a:rPr dirty="0" err="1"/>
              <a:t>재현율이</a:t>
            </a:r>
            <a:r>
              <a:rPr dirty="0"/>
              <a:t> 0.7508까지 </a:t>
            </a:r>
            <a:r>
              <a:rPr dirty="0" err="1"/>
              <a:t>올라갔지만</a:t>
            </a:r>
            <a:r>
              <a:rPr dirty="0"/>
              <a:t> </a:t>
            </a:r>
            <a:r>
              <a:rPr dirty="0" err="1"/>
              <a:t>정밀도는</a:t>
            </a:r>
            <a:r>
              <a:rPr dirty="0"/>
              <a:t> </a:t>
            </a:r>
            <a:r>
              <a:rPr dirty="0" err="1"/>
              <a:t>낮아졌습니다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즉 </a:t>
            </a:r>
            <a:r>
              <a:rPr dirty="0" err="1"/>
              <a:t>구매자를</a:t>
            </a:r>
            <a:r>
              <a:rPr dirty="0"/>
              <a:t> 더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찾아내는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, </a:t>
            </a:r>
            <a:r>
              <a:rPr dirty="0" err="1"/>
              <a:t>구매하지</a:t>
            </a:r>
            <a:r>
              <a:rPr dirty="0"/>
              <a:t> </a:t>
            </a:r>
            <a:r>
              <a:rPr dirty="0" err="1"/>
              <a:t>않을</a:t>
            </a:r>
            <a:r>
              <a:rPr dirty="0"/>
              <a:t> </a:t>
            </a:r>
            <a:r>
              <a:rPr dirty="0" err="1"/>
              <a:t>사람을</a:t>
            </a:r>
            <a:r>
              <a:rPr dirty="0"/>
              <a:t> </a:t>
            </a:r>
            <a:r>
              <a:rPr dirty="0" err="1"/>
              <a:t>구매자로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예측하는</a:t>
            </a:r>
            <a:r>
              <a:rPr dirty="0"/>
              <a:t> </a:t>
            </a:r>
            <a:r>
              <a:rPr dirty="0" err="1"/>
              <a:t>경우도</a:t>
            </a:r>
            <a:r>
              <a:rPr dirty="0"/>
              <a:t> 늘 수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뜻입니다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모델과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비교한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XGBoost의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F1 </a:t>
            </a:r>
            <a:r>
              <a:rPr dirty="0" err="1"/>
              <a:t>점수는</a:t>
            </a:r>
            <a:r>
              <a:rPr dirty="0"/>
              <a:t> 0.7044로, </a:t>
            </a:r>
            <a:r>
              <a:rPr dirty="0" err="1"/>
              <a:t>기본</a:t>
            </a:r>
            <a:r>
              <a:rPr dirty="0"/>
              <a:t> Gradient </a:t>
            </a:r>
            <a:r>
              <a:rPr dirty="0" err="1"/>
              <a:t>Boosting의</a:t>
            </a:r>
            <a:r>
              <a:rPr dirty="0"/>
              <a:t> 0.6533보다 0.0511 </a:t>
            </a:r>
            <a:r>
              <a:rPr dirty="0" err="1"/>
              <a:t>높았습니다</a:t>
            </a:r>
            <a:r>
              <a:rPr dirty="0"/>
              <a:t>.</a:t>
            </a:r>
            <a:endParaRPr lang="en-US" dirty="0"/>
          </a:p>
          <a:p>
            <a:r>
              <a:rPr dirty="0"/>
              <a:t>이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변경과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변경을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포함한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877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딥러닝</a:t>
            </a:r>
            <a:r>
              <a:rPr dirty="0"/>
              <a:t> </a:t>
            </a:r>
            <a:r>
              <a:rPr dirty="0" err="1"/>
              <a:t>모델도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r>
              <a:rPr dirty="0" err="1"/>
              <a:t>기본</a:t>
            </a:r>
            <a:r>
              <a:rPr dirty="0"/>
              <a:t> MLP, </a:t>
            </a:r>
            <a:r>
              <a:rPr dirty="0" err="1"/>
              <a:t>층을</a:t>
            </a:r>
            <a:r>
              <a:rPr dirty="0"/>
              <a:t> </a:t>
            </a:r>
            <a:r>
              <a:rPr dirty="0" err="1"/>
              <a:t>늘린</a:t>
            </a:r>
            <a:r>
              <a:rPr dirty="0"/>
              <a:t> DNN, </a:t>
            </a:r>
            <a:r>
              <a:rPr dirty="0" err="1"/>
              <a:t>전처리를</a:t>
            </a:r>
            <a:r>
              <a:rPr dirty="0"/>
              <a:t> </a:t>
            </a:r>
            <a:r>
              <a:rPr dirty="0" err="1"/>
              <a:t>적용한</a:t>
            </a:r>
            <a:r>
              <a:rPr dirty="0"/>
              <a:t> DNN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실험했습니다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Optuna</a:t>
            </a:r>
            <a:r>
              <a:rPr dirty="0"/>
              <a:t> </a:t>
            </a:r>
            <a:r>
              <a:rPr dirty="0" err="1"/>
              <a:t>DNN은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0.8976, </a:t>
            </a:r>
            <a:r>
              <a:rPr dirty="0" err="1"/>
              <a:t>재현율</a:t>
            </a:r>
            <a:r>
              <a:rPr dirty="0"/>
              <a:t> 0.7082, F1 </a:t>
            </a:r>
            <a:r>
              <a:rPr dirty="0" err="1"/>
              <a:t>점수</a:t>
            </a:r>
            <a:r>
              <a:rPr dirty="0"/>
              <a:t> 0.6814를 </a:t>
            </a:r>
            <a:r>
              <a:rPr dirty="0" err="1"/>
              <a:t>기록했습니다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기준값은</a:t>
            </a:r>
            <a:r>
              <a:rPr dirty="0"/>
              <a:t> 0.48입니다. </a:t>
            </a:r>
            <a:r>
              <a:rPr dirty="0" err="1"/>
              <a:t>층을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쌓는다고</a:t>
            </a:r>
            <a:r>
              <a:rPr dirty="0"/>
              <a:t> </a:t>
            </a:r>
            <a:r>
              <a:rPr dirty="0" err="1"/>
              <a:t>항상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좋아지지는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938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err="1"/>
              <a:t>그래프는</a:t>
            </a:r>
            <a:r>
              <a:t> </a:t>
            </a:r>
            <a:r>
              <a:rPr lang="ko-KR" altLang="en-US"/>
              <a:t>최신 </a:t>
            </a:r>
            <a:r>
              <a:t>DNN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파란</a:t>
            </a:r>
            <a:r>
              <a:rPr dirty="0"/>
              <a:t> </a:t>
            </a:r>
            <a:r>
              <a:rPr dirty="0" err="1"/>
              <a:t>선은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손실값</a:t>
            </a:r>
            <a:r>
              <a:rPr dirty="0"/>
              <a:t>, </a:t>
            </a:r>
            <a:r>
              <a:rPr dirty="0" err="1"/>
              <a:t>주황</a:t>
            </a:r>
            <a:r>
              <a:rPr dirty="0"/>
              <a:t> </a:t>
            </a:r>
            <a:r>
              <a:rPr dirty="0" err="1"/>
              <a:t>선은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손실값입니다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처음에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손실이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감소한</a:t>
            </a:r>
            <a:r>
              <a:rPr dirty="0"/>
              <a:t> 뒤 </a:t>
            </a:r>
            <a:r>
              <a:rPr dirty="0" err="1"/>
              <a:t>마지막에는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손실이</a:t>
            </a:r>
            <a:r>
              <a:rPr dirty="0"/>
              <a:t> 약 0.28,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손실이</a:t>
            </a:r>
            <a:r>
              <a:rPr dirty="0"/>
              <a:t> 약 0.26 </a:t>
            </a:r>
            <a:r>
              <a:rPr dirty="0" err="1"/>
              <a:t>수준에서</a:t>
            </a:r>
            <a:r>
              <a:rPr dirty="0"/>
              <a:t> </a:t>
            </a:r>
            <a:r>
              <a:rPr dirty="0" err="1"/>
              <a:t>안정됐습니다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Early </a:t>
            </a:r>
            <a:r>
              <a:rPr dirty="0" err="1"/>
              <a:t>Stopping을</a:t>
            </a:r>
            <a:r>
              <a:rPr dirty="0"/>
              <a:t> </a:t>
            </a:r>
            <a:r>
              <a:rPr dirty="0" err="1"/>
              <a:t>사용해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손실이</a:t>
            </a:r>
            <a:r>
              <a:rPr dirty="0"/>
              <a:t> 더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개선되지</a:t>
            </a:r>
            <a:r>
              <a:rPr dirty="0"/>
              <a:t> </a:t>
            </a:r>
            <a:r>
              <a:rPr dirty="0" err="1"/>
              <a:t>않을</a:t>
            </a:r>
            <a:r>
              <a:rPr dirty="0"/>
              <a:t> 때 </a:t>
            </a:r>
            <a:r>
              <a:rPr dirty="0" err="1"/>
              <a:t>학습을</a:t>
            </a:r>
            <a:r>
              <a:rPr dirty="0"/>
              <a:t> </a:t>
            </a:r>
            <a:r>
              <a:rPr dirty="0" err="1"/>
              <a:t>종료했습니다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이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학습의</a:t>
            </a:r>
            <a:r>
              <a:rPr dirty="0"/>
              <a:t> </a:t>
            </a:r>
            <a:r>
              <a:rPr dirty="0" err="1"/>
              <a:t>안정성을</a:t>
            </a:r>
            <a:r>
              <a:rPr dirty="0"/>
              <a:t> </a:t>
            </a:r>
            <a:r>
              <a:rPr dirty="0" err="1"/>
              <a:t>보여주지만</a:t>
            </a:r>
            <a:r>
              <a:rPr dirty="0"/>
              <a:t>,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선택은</a:t>
            </a:r>
            <a:r>
              <a:rPr dirty="0"/>
              <a:t> </a:t>
            </a:r>
            <a:r>
              <a:rPr dirty="0" err="1"/>
              <a:t>별도의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지표로</a:t>
            </a:r>
            <a:r>
              <a:rPr dirty="0"/>
              <a:t> </a:t>
            </a:r>
            <a:r>
              <a:rPr dirty="0" err="1"/>
              <a:t>판단했습니다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020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Optuna를</a:t>
            </a:r>
            <a:r>
              <a:rPr dirty="0"/>
              <a:t> </a:t>
            </a:r>
            <a:r>
              <a:rPr dirty="0" err="1"/>
              <a:t>이용해</a:t>
            </a:r>
            <a:r>
              <a:rPr dirty="0"/>
              <a:t> </a:t>
            </a:r>
            <a:r>
              <a:rPr dirty="0" err="1"/>
              <a:t>DNN의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50번 </a:t>
            </a:r>
            <a:r>
              <a:rPr dirty="0" err="1"/>
              <a:t>자동으로</a:t>
            </a:r>
            <a:r>
              <a:rPr dirty="0"/>
              <a:t> </a:t>
            </a:r>
            <a:r>
              <a:rPr dirty="0" err="1"/>
              <a:t>탐색한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가로축은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번호이고</a:t>
            </a:r>
            <a:r>
              <a:rPr dirty="0"/>
              <a:t> </a:t>
            </a:r>
            <a:r>
              <a:rPr dirty="0" err="1"/>
              <a:t>세로축은</a:t>
            </a:r>
            <a:r>
              <a:rPr dirty="0"/>
              <a:t> 각 </a:t>
            </a:r>
            <a:r>
              <a:rPr dirty="0" err="1"/>
              <a:t>실험에서</a:t>
            </a:r>
            <a:r>
              <a:rPr dirty="0"/>
              <a:t> </a:t>
            </a:r>
            <a:r>
              <a:rPr dirty="0" err="1"/>
              <a:t>계산한</a:t>
            </a:r>
            <a:r>
              <a:rPr dirty="0"/>
              <a:t> </a:t>
            </a:r>
            <a:r>
              <a:rPr dirty="0" err="1"/>
              <a:t>목적함수</a:t>
            </a:r>
            <a:r>
              <a:rPr dirty="0"/>
              <a:t> </a:t>
            </a:r>
            <a:r>
              <a:rPr dirty="0" err="1"/>
              <a:t>점수입니다</a:t>
            </a:r>
            <a:r>
              <a:rPr dirty="0"/>
              <a:t>. </a:t>
            </a:r>
            <a:r>
              <a:rPr dirty="0" err="1"/>
              <a:t>파란</a:t>
            </a:r>
            <a:r>
              <a:rPr dirty="0"/>
              <a:t> </a:t>
            </a:r>
            <a:r>
              <a:rPr dirty="0" err="1"/>
              <a:t>점은</a:t>
            </a:r>
            <a:r>
              <a:rPr dirty="0"/>
              <a:t> 매 </a:t>
            </a:r>
            <a:r>
              <a:rPr dirty="0" err="1"/>
              <a:t>실험의</a:t>
            </a:r>
            <a:r>
              <a:rPr dirty="0"/>
              <a:t> </a:t>
            </a:r>
            <a:r>
              <a:rPr dirty="0" err="1"/>
              <a:t>점수이고</a:t>
            </a:r>
            <a:r>
              <a:rPr dirty="0"/>
              <a:t> </a:t>
            </a:r>
            <a:r>
              <a:rPr dirty="0" err="1"/>
              <a:t>주황색</a:t>
            </a:r>
            <a:r>
              <a:rPr dirty="0"/>
              <a:t> </a:t>
            </a:r>
            <a:r>
              <a:rPr dirty="0" err="1"/>
              <a:t>선은</a:t>
            </a:r>
            <a:r>
              <a:rPr dirty="0"/>
              <a:t> </a:t>
            </a:r>
            <a:r>
              <a:rPr dirty="0" err="1"/>
              <a:t>지금까지</a:t>
            </a:r>
            <a:r>
              <a:rPr dirty="0"/>
              <a:t> </a:t>
            </a:r>
            <a:r>
              <a:rPr dirty="0" err="1"/>
              <a:t>발견한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점수입니다</a:t>
            </a:r>
            <a:r>
              <a:rPr dirty="0"/>
              <a:t>. </a:t>
            </a:r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실험의</a:t>
            </a:r>
            <a:r>
              <a:rPr dirty="0"/>
              <a:t> </a:t>
            </a:r>
            <a:r>
              <a:rPr dirty="0" err="1"/>
              <a:t>점수가</a:t>
            </a:r>
            <a:r>
              <a:rPr dirty="0"/>
              <a:t> </a:t>
            </a:r>
            <a:r>
              <a:rPr dirty="0" err="1"/>
              <a:t>낮아도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찾은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기록은</a:t>
            </a:r>
            <a:r>
              <a:rPr dirty="0"/>
              <a:t> </a:t>
            </a:r>
            <a:r>
              <a:rPr dirty="0" err="1"/>
              <a:t>바뀌지</a:t>
            </a:r>
            <a:r>
              <a:rPr dirty="0"/>
              <a:t> </a:t>
            </a:r>
            <a:r>
              <a:rPr dirty="0" err="1"/>
              <a:t>않기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주황색</a:t>
            </a:r>
            <a:r>
              <a:rPr dirty="0"/>
              <a:t> </a:t>
            </a:r>
            <a:r>
              <a:rPr dirty="0" err="1"/>
              <a:t>선은</a:t>
            </a:r>
            <a:r>
              <a:rPr dirty="0"/>
              <a:t> </a:t>
            </a:r>
            <a:r>
              <a:rPr dirty="0" err="1"/>
              <a:t>내려가지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약 17번째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0.6632를 </a:t>
            </a:r>
            <a:r>
              <a:rPr dirty="0" err="1"/>
              <a:t>넘어서는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나오지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 </a:t>
            </a:r>
            <a:r>
              <a:rPr dirty="0" err="1"/>
              <a:t>여기서</a:t>
            </a:r>
            <a:r>
              <a:rPr dirty="0"/>
              <a:t> 0.6632는 F1 </a:t>
            </a:r>
            <a:r>
              <a:rPr dirty="0" err="1"/>
              <a:t>점수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반영한</a:t>
            </a:r>
            <a:r>
              <a:rPr dirty="0"/>
              <a:t> </a:t>
            </a:r>
            <a:r>
              <a:rPr dirty="0" err="1"/>
              <a:t>탐색용</a:t>
            </a:r>
            <a:r>
              <a:rPr dirty="0"/>
              <a:t> </a:t>
            </a:r>
            <a:r>
              <a:rPr dirty="0" err="1"/>
              <a:t>점수입니다</a:t>
            </a:r>
            <a:r>
              <a:rPr dirty="0"/>
              <a:t>.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DNN의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탐색한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,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페이지에서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 및 </a:t>
            </a:r>
            <a:r>
              <a:rPr dirty="0" err="1"/>
              <a:t>앙상블과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비교하겠습니다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583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후보는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, DNN, </a:t>
            </a:r>
            <a:r>
              <a:rPr dirty="0" err="1"/>
              <a:t>그리고</a:t>
            </a:r>
            <a:r>
              <a:rPr dirty="0"/>
              <a:t> 두 </a:t>
            </a:r>
            <a:r>
              <a:rPr dirty="0" err="1"/>
              <a:t>모델의</a:t>
            </a:r>
            <a:r>
              <a:rPr dirty="0"/>
              <a:t> </a:t>
            </a:r>
            <a:r>
              <a:rPr dirty="0" err="1"/>
              <a:t>예측을</a:t>
            </a:r>
            <a:r>
              <a:rPr dirty="0"/>
              <a:t> </a:t>
            </a:r>
            <a:r>
              <a:rPr dirty="0" err="1"/>
              <a:t>합친</a:t>
            </a:r>
            <a:r>
              <a:rPr dirty="0"/>
              <a:t> </a:t>
            </a:r>
            <a:r>
              <a:rPr dirty="0" err="1"/>
              <a:t>앙상블입니다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DNN은</a:t>
            </a:r>
            <a:r>
              <a:rPr dirty="0"/>
              <a:t> F1 </a:t>
            </a:r>
            <a:r>
              <a:rPr dirty="0" err="1"/>
              <a:t>점수</a:t>
            </a:r>
            <a:r>
              <a:rPr dirty="0"/>
              <a:t> 0.6814, </a:t>
            </a:r>
            <a:r>
              <a:rPr dirty="0" err="1"/>
              <a:t>재현율</a:t>
            </a:r>
            <a:r>
              <a:rPr dirty="0"/>
              <a:t> 0.7082를 </a:t>
            </a:r>
            <a:r>
              <a:rPr dirty="0" err="1"/>
              <a:t>기록했습니다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앙상블은</a:t>
            </a:r>
            <a:r>
              <a:rPr dirty="0"/>
              <a:t> </a:t>
            </a:r>
            <a:r>
              <a:rPr dirty="0" err="1"/>
              <a:t>재현율이</a:t>
            </a:r>
            <a:r>
              <a:rPr dirty="0"/>
              <a:t> 0.7934로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높아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구매자를</a:t>
            </a:r>
            <a:r>
              <a:rPr dirty="0"/>
              <a:t> 더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찾아냈지만</a:t>
            </a:r>
            <a:r>
              <a:rPr dirty="0"/>
              <a:t>, </a:t>
            </a:r>
            <a:r>
              <a:rPr dirty="0" err="1"/>
              <a:t>구매하지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구매한다고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판단한</a:t>
            </a:r>
            <a:r>
              <a:rPr dirty="0"/>
              <a:t> </a:t>
            </a:r>
            <a:r>
              <a:rPr dirty="0" err="1"/>
              <a:t>FP가</a:t>
            </a:r>
            <a:r>
              <a:rPr dirty="0"/>
              <a:t> 147건으로 </a:t>
            </a:r>
            <a:r>
              <a:rPr dirty="0" err="1"/>
              <a:t>늘었습니다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반면</a:t>
            </a:r>
            <a:r>
              <a:rPr dirty="0"/>
              <a:t> </a:t>
            </a:r>
            <a:r>
              <a:rPr dirty="0" err="1"/>
              <a:t>XGBoost는</a:t>
            </a:r>
            <a:r>
              <a:rPr dirty="0"/>
              <a:t> F1 </a:t>
            </a:r>
            <a:r>
              <a:rPr dirty="0" err="1"/>
              <a:t>점수</a:t>
            </a:r>
            <a:r>
              <a:rPr dirty="0"/>
              <a:t> 0.7044, </a:t>
            </a:r>
            <a:r>
              <a:rPr dirty="0" err="1"/>
              <a:t>정확도</a:t>
            </a:r>
            <a:r>
              <a:rPr dirty="0"/>
              <a:t> 0.9047로 더 </a:t>
            </a:r>
            <a:r>
              <a:rPr dirty="0" err="1"/>
              <a:t>균형</a:t>
            </a:r>
            <a:r>
              <a:rPr dirty="0"/>
              <a:t> </a:t>
            </a:r>
            <a:r>
              <a:rPr dirty="0" err="1"/>
              <a:t>잡힌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재현율뿐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, F1 </a:t>
            </a:r>
            <a:r>
              <a:rPr dirty="0" err="1"/>
              <a:t>점수</a:t>
            </a:r>
            <a:r>
              <a:rPr dirty="0"/>
              <a:t>, </a:t>
            </a:r>
            <a:r>
              <a:rPr dirty="0" err="1"/>
              <a:t>관리와</a:t>
            </a:r>
            <a:r>
              <a:rPr dirty="0"/>
              <a:t> </a:t>
            </a:r>
            <a:r>
              <a:rPr dirty="0" err="1"/>
              <a:t>해석의</a:t>
            </a:r>
            <a:r>
              <a:rPr dirty="0"/>
              <a:t> </a:t>
            </a:r>
            <a:r>
              <a:rPr dirty="0" err="1"/>
              <a:t>편의성을</a:t>
            </a:r>
            <a:r>
              <a:rPr dirty="0"/>
              <a:t> </a:t>
            </a:r>
            <a:r>
              <a:rPr dirty="0" err="1"/>
              <a:t>고려해</a:t>
            </a:r>
            <a:r>
              <a:rPr dirty="0"/>
              <a:t> </a:t>
            </a:r>
            <a:r>
              <a:rPr dirty="0" err="1"/>
              <a:t>XGBoost를</a:t>
            </a:r>
            <a:r>
              <a:rPr dirty="0"/>
              <a:t> </a:t>
            </a:r>
            <a:r>
              <a:rPr dirty="0" err="1"/>
              <a:t>선택했습니다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339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선택한 XGBoost의 최종 테스트 결과입니다.</a:t>
            </a:r>
          </a:p>
          <a:p>
            <a:r>
              <a:t>혼동행렬은 예측을 네 가지 경우로 나누어 보여줍니다.</a:t>
            </a:r>
          </a:p>
          <a:p>
            <a:r>
              <a:t>실제 비구매를 맞힌 TN은 1,954건이고, 실제 구매를 맞힌 TP는 249건입니다.</a:t>
            </a:r>
          </a:p>
          <a:p>
            <a:r>
              <a:t>반대로 비구매를 구매로 잘못 예측한 FP는 130건, 실제 구매를 놓친 FN은 133건입니다.</a:t>
            </a:r>
          </a:p>
          <a:p>
            <a:r>
              <a:t>특히 실제 구매가 발생한 382개 세션 중 133개 세션을 놓쳤다는 점이 중요한 한계입니다.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493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숫자로</a:t>
            </a:r>
            <a:r>
              <a:rPr dirty="0"/>
              <a:t> </a:t>
            </a:r>
            <a:r>
              <a:rPr dirty="0" err="1"/>
              <a:t>정리하면</a:t>
            </a:r>
            <a:r>
              <a:rPr dirty="0"/>
              <a:t> </a:t>
            </a:r>
            <a:r>
              <a:rPr dirty="0" err="1"/>
              <a:t>정확도는</a:t>
            </a:r>
            <a:r>
              <a:rPr dirty="0"/>
              <a:t> 0.8933, </a:t>
            </a:r>
            <a:r>
              <a:rPr dirty="0" err="1"/>
              <a:t>정밀도는</a:t>
            </a:r>
            <a:r>
              <a:rPr dirty="0"/>
              <a:t> 0.6570, </a:t>
            </a:r>
            <a:r>
              <a:rPr dirty="0" err="1"/>
              <a:t>재현율은</a:t>
            </a:r>
            <a:r>
              <a:rPr dirty="0"/>
              <a:t> 0.6518, F1 </a:t>
            </a:r>
            <a:r>
              <a:rPr dirty="0" err="1"/>
              <a:t>점수는</a:t>
            </a:r>
            <a:r>
              <a:rPr dirty="0"/>
              <a:t> 0.6544, ROC-</a:t>
            </a:r>
            <a:r>
              <a:rPr dirty="0" err="1"/>
              <a:t>AUC는</a:t>
            </a:r>
            <a:r>
              <a:rPr dirty="0"/>
              <a:t> 0.9271입니다. </a:t>
            </a:r>
            <a:endParaRPr lang="en-US" dirty="0"/>
          </a:p>
          <a:p>
            <a:r>
              <a:rPr dirty="0" err="1"/>
              <a:t>정밀도는</a:t>
            </a:r>
            <a:r>
              <a:rPr dirty="0"/>
              <a:t> </a:t>
            </a:r>
            <a:r>
              <a:rPr dirty="0" err="1"/>
              <a:t>구매라고</a:t>
            </a:r>
            <a:r>
              <a:rPr dirty="0"/>
              <a:t> </a:t>
            </a:r>
            <a:r>
              <a:rPr dirty="0" err="1"/>
              <a:t>예측한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중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구매한</a:t>
            </a:r>
            <a:r>
              <a:rPr dirty="0"/>
              <a:t> </a:t>
            </a:r>
            <a:r>
              <a:rPr dirty="0" err="1"/>
              <a:t>비율이고</a:t>
            </a:r>
            <a:r>
              <a:rPr dirty="0"/>
              <a:t>, </a:t>
            </a:r>
            <a:r>
              <a:rPr dirty="0" err="1"/>
              <a:t>재현율은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중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찾아낸</a:t>
            </a:r>
            <a:r>
              <a:rPr dirty="0"/>
              <a:t> </a:t>
            </a:r>
            <a:r>
              <a:rPr dirty="0" err="1"/>
              <a:t>비율입니다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F1 </a:t>
            </a:r>
            <a:r>
              <a:rPr dirty="0" err="1"/>
              <a:t>점수는</a:t>
            </a:r>
            <a:r>
              <a:rPr dirty="0"/>
              <a:t> 이 두 </a:t>
            </a:r>
            <a:r>
              <a:rPr dirty="0" err="1"/>
              <a:t>지표의</a:t>
            </a:r>
            <a:r>
              <a:rPr dirty="0"/>
              <a:t> </a:t>
            </a:r>
            <a:r>
              <a:rPr dirty="0" err="1"/>
              <a:t>균형을</a:t>
            </a:r>
            <a:r>
              <a:rPr dirty="0"/>
              <a:t> </a:t>
            </a:r>
            <a:r>
              <a:rPr dirty="0" err="1"/>
              <a:t>나타냅니다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약 89퍼센트라고 </a:t>
            </a:r>
            <a:r>
              <a:rPr dirty="0" err="1"/>
              <a:t>해서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고객도</a:t>
            </a:r>
            <a:r>
              <a:rPr dirty="0"/>
              <a:t> </a:t>
            </a:r>
            <a:r>
              <a:rPr dirty="0" err="1"/>
              <a:t>그만큼</a:t>
            </a:r>
            <a:r>
              <a:rPr dirty="0"/>
              <a:t> 잘 </a:t>
            </a:r>
            <a:r>
              <a:rPr dirty="0" err="1"/>
              <a:t>찾아낸다는</a:t>
            </a:r>
            <a:r>
              <a:rPr dirty="0"/>
              <a:t> </a:t>
            </a:r>
            <a:r>
              <a:rPr dirty="0" err="1"/>
              <a:t>뜻은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829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데이터와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데이터의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ROC-</a:t>
            </a:r>
            <a:r>
              <a:rPr dirty="0" err="1"/>
              <a:t>AUC는</a:t>
            </a:r>
            <a:r>
              <a:rPr dirty="0"/>
              <a:t> 0.9275에서 0.9271로 </a:t>
            </a:r>
            <a:r>
              <a:rPr dirty="0" err="1"/>
              <a:t>거의</a:t>
            </a:r>
            <a:r>
              <a:rPr dirty="0"/>
              <a:t> </a:t>
            </a:r>
            <a:r>
              <a:rPr dirty="0" err="1"/>
              <a:t>유지됐습니다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하지만</a:t>
            </a:r>
            <a:r>
              <a:rPr dirty="0"/>
              <a:t> </a:t>
            </a:r>
            <a:r>
              <a:rPr dirty="0" err="1"/>
              <a:t>재현율은</a:t>
            </a:r>
            <a:r>
              <a:rPr dirty="0"/>
              <a:t> 0.7344에서 0.6518로, F1 </a:t>
            </a:r>
            <a:r>
              <a:rPr dirty="0" err="1"/>
              <a:t>점수는</a:t>
            </a:r>
            <a:r>
              <a:rPr dirty="0"/>
              <a:t> 0.7044에서 0.6544로 </a:t>
            </a:r>
            <a:r>
              <a:rPr dirty="0" err="1"/>
              <a:t>낮아졌습니다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즉 </a:t>
            </a:r>
            <a:r>
              <a:rPr dirty="0" err="1"/>
              <a:t>구매와</a:t>
            </a:r>
            <a:r>
              <a:rPr dirty="0"/>
              <a:t> </a:t>
            </a:r>
            <a:r>
              <a:rPr dirty="0" err="1"/>
              <a:t>비구매를</a:t>
            </a:r>
            <a:r>
              <a:rPr dirty="0"/>
              <a:t> </a:t>
            </a:r>
            <a:r>
              <a:rPr dirty="0" err="1"/>
              <a:t>구분하는</a:t>
            </a:r>
            <a:r>
              <a:rPr dirty="0"/>
              <a:t> </a:t>
            </a:r>
            <a:r>
              <a:rPr dirty="0" err="1"/>
              <a:t>전반적인</a:t>
            </a:r>
            <a:r>
              <a:rPr dirty="0"/>
              <a:t> </a:t>
            </a:r>
            <a:r>
              <a:rPr dirty="0" err="1"/>
              <a:t>능력은</a:t>
            </a:r>
            <a:r>
              <a:rPr dirty="0"/>
              <a:t> </a:t>
            </a:r>
            <a:r>
              <a:rPr dirty="0" err="1"/>
              <a:t>비슷했지만</a:t>
            </a:r>
            <a:r>
              <a:rPr dirty="0"/>
              <a:t>,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기준값</a:t>
            </a:r>
            <a:r>
              <a:rPr dirty="0"/>
              <a:t> 0.5로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구매자를</a:t>
            </a:r>
            <a:r>
              <a:rPr dirty="0"/>
              <a:t> </a:t>
            </a:r>
            <a:r>
              <a:rPr dirty="0" err="1"/>
              <a:t>찾아내는</a:t>
            </a:r>
            <a:r>
              <a:rPr dirty="0"/>
              <a:t> </a:t>
            </a:r>
            <a:r>
              <a:rPr dirty="0" err="1"/>
              <a:t>성능은</a:t>
            </a:r>
            <a:r>
              <a:rPr dirty="0"/>
              <a:t> </a:t>
            </a:r>
            <a:r>
              <a:rPr dirty="0" err="1"/>
              <a:t>테스트에서</a:t>
            </a:r>
            <a:r>
              <a:rPr dirty="0"/>
              <a:t> </a:t>
            </a:r>
            <a:r>
              <a:rPr dirty="0" err="1"/>
              <a:t>떨어졌습니다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향후에는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독립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필요가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643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이제부터는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예측했는지</a:t>
            </a:r>
            <a:r>
              <a:rPr dirty="0"/>
              <a:t> </a:t>
            </a:r>
            <a:r>
              <a:rPr dirty="0" err="1"/>
              <a:t>분석하겠습니다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</a:t>
            </a:r>
            <a:r>
              <a:rPr dirty="0" err="1"/>
              <a:t>FP는</a:t>
            </a:r>
            <a:r>
              <a:rPr dirty="0"/>
              <a:t> 130건, </a:t>
            </a:r>
            <a:r>
              <a:rPr dirty="0" err="1"/>
              <a:t>FN은</a:t>
            </a:r>
            <a:r>
              <a:rPr dirty="0"/>
              <a:t> 133건이었습니다. </a:t>
            </a:r>
            <a:endParaRPr lang="en-US" dirty="0"/>
          </a:p>
          <a:p>
            <a:r>
              <a:rPr dirty="0" err="1"/>
              <a:t>FP는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비구매인데</a:t>
            </a:r>
            <a:r>
              <a:rPr dirty="0"/>
              <a:t> </a:t>
            </a:r>
            <a:r>
              <a:rPr dirty="0" err="1"/>
              <a:t>구매한다고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판단한</a:t>
            </a:r>
            <a:r>
              <a:rPr dirty="0"/>
              <a:t> </a:t>
            </a:r>
            <a:r>
              <a:rPr dirty="0" err="1"/>
              <a:t>경우이고</a:t>
            </a:r>
            <a:r>
              <a:rPr dirty="0"/>
              <a:t>, </a:t>
            </a:r>
            <a:r>
              <a:rPr dirty="0" err="1"/>
              <a:t>FN은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구매인데</a:t>
            </a:r>
            <a:r>
              <a:rPr dirty="0"/>
              <a:t> </a:t>
            </a:r>
            <a:r>
              <a:rPr dirty="0" err="1"/>
              <a:t>비구매라고</a:t>
            </a:r>
            <a:r>
              <a:rPr dirty="0"/>
              <a:t> </a:t>
            </a:r>
            <a:r>
              <a:rPr dirty="0" err="1"/>
              <a:t>판단한</a:t>
            </a:r>
            <a:r>
              <a:rPr dirty="0"/>
              <a:t> </a:t>
            </a:r>
            <a:r>
              <a:rPr dirty="0" err="1"/>
              <a:t>경우입니다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FP </a:t>
            </a:r>
            <a:r>
              <a:rPr dirty="0" err="1"/>
              <a:t>고객의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PageValues는</a:t>
            </a:r>
            <a:r>
              <a:rPr dirty="0"/>
              <a:t> 26.97로 </a:t>
            </a:r>
            <a:r>
              <a:rPr dirty="0" err="1"/>
              <a:t>일반적인</a:t>
            </a:r>
            <a:r>
              <a:rPr dirty="0"/>
              <a:t> </a:t>
            </a:r>
            <a:r>
              <a:rPr dirty="0" err="1"/>
              <a:t>비구매</a:t>
            </a:r>
            <a:r>
              <a:rPr dirty="0"/>
              <a:t> </a:t>
            </a:r>
            <a:r>
              <a:rPr dirty="0" err="1"/>
              <a:t>고객보다</a:t>
            </a:r>
            <a:r>
              <a:rPr dirty="0"/>
              <a:t> </a:t>
            </a:r>
            <a:r>
              <a:rPr dirty="0" err="1"/>
              <a:t>높았습니다</a:t>
            </a:r>
            <a:r>
              <a:rPr dirty="0"/>
              <a:t>. </a:t>
            </a:r>
            <a:r>
              <a:rPr dirty="0" err="1"/>
              <a:t>반면</a:t>
            </a:r>
            <a:r>
              <a:rPr dirty="0"/>
              <a:t> FN </a:t>
            </a:r>
            <a:r>
              <a:rPr dirty="0" err="1"/>
              <a:t>고객의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PageValues는</a:t>
            </a:r>
            <a:r>
              <a:rPr dirty="0"/>
              <a:t> 3.38로 </a:t>
            </a:r>
            <a:r>
              <a:rPr dirty="0" err="1"/>
              <a:t>일반적인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고객보다</a:t>
            </a:r>
            <a:r>
              <a:rPr dirty="0"/>
              <a:t> </a:t>
            </a:r>
            <a:r>
              <a:rPr dirty="0" err="1"/>
              <a:t>낮았습니다</a:t>
            </a:r>
            <a:r>
              <a:rPr dirty="0"/>
              <a:t>. </a:t>
            </a:r>
            <a:endParaRPr lang="en-US" dirty="0"/>
          </a:p>
          <a:p>
            <a:r>
              <a:rPr dirty="0"/>
              <a:t>즉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행동과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 </a:t>
            </a:r>
            <a:r>
              <a:rPr dirty="0" err="1"/>
              <a:t>비구매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구매자로</a:t>
            </a:r>
            <a:r>
              <a:rPr dirty="0"/>
              <a:t> </a:t>
            </a:r>
            <a:r>
              <a:rPr dirty="0" err="1"/>
              <a:t>오해하거나</a:t>
            </a:r>
            <a:r>
              <a:rPr dirty="0"/>
              <a:t>,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가치가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경향이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5B5D0B-1C76-4BCC-B93E-260FB35EBEC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757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잘못</a:t>
            </a:r>
            <a:r>
              <a:rPr dirty="0"/>
              <a:t> </a:t>
            </a:r>
            <a:r>
              <a:rPr dirty="0" err="1"/>
              <a:t>예측한</a:t>
            </a:r>
            <a:r>
              <a:rPr dirty="0"/>
              <a:t> </a:t>
            </a:r>
            <a:r>
              <a:rPr dirty="0" err="1"/>
              <a:t>고객들에게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부여한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확률의</a:t>
            </a:r>
            <a:r>
              <a:rPr dirty="0"/>
              <a:t> </a:t>
            </a:r>
            <a:r>
              <a:rPr dirty="0" err="1"/>
              <a:t>분포입니다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점선</a:t>
            </a:r>
            <a:r>
              <a:rPr dirty="0"/>
              <a:t> 0.5는 </a:t>
            </a:r>
            <a:r>
              <a:rPr dirty="0" err="1"/>
              <a:t>구매와</a:t>
            </a:r>
            <a:r>
              <a:rPr dirty="0"/>
              <a:t> </a:t>
            </a:r>
            <a:r>
              <a:rPr dirty="0" err="1"/>
              <a:t>비구매를</a:t>
            </a:r>
            <a:r>
              <a:rPr dirty="0"/>
              <a:t> </a:t>
            </a:r>
            <a:r>
              <a:rPr dirty="0" err="1"/>
              <a:t>나누는</a:t>
            </a:r>
            <a:r>
              <a:rPr dirty="0"/>
              <a:t> </a:t>
            </a:r>
            <a:r>
              <a:rPr dirty="0" err="1"/>
              <a:t>기준값입니다</a:t>
            </a:r>
            <a:r>
              <a:rPr dirty="0"/>
              <a:t>. </a:t>
            </a:r>
            <a:r>
              <a:rPr dirty="0" err="1"/>
              <a:t>파란색</a:t>
            </a:r>
            <a:r>
              <a:rPr dirty="0"/>
              <a:t> </a:t>
            </a:r>
            <a:r>
              <a:rPr dirty="0" err="1"/>
              <a:t>FN은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구매했지만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확률이</a:t>
            </a:r>
            <a:r>
              <a:rPr dirty="0"/>
              <a:t> </a:t>
            </a:r>
            <a:r>
              <a:rPr dirty="0" err="1"/>
              <a:t>기준보다</a:t>
            </a:r>
            <a:r>
              <a:rPr dirty="0"/>
              <a:t> </a:t>
            </a:r>
            <a:r>
              <a:rPr dirty="0" err="1"/>
              <a:t>낮게</a:t>
            </a:r>
            <a:r>
              <a:rPr dirty="0"/>
              <a:t> </a:t>
            </a:r>
            <a:r>
              <a:rPr dirty="0" err="1"/>
              <a:t>나와</a:t>
            </a:r>
            <a:r>
              <a:rPr dirty="0"/>
              <a:t> </a:t>
            </a:r>
            <a:r>
              <a:rPr dirty="0" err="1"/>
              <a:t>놓친</a:t>
            </a:r>
            <a:r>
              <a:rPr dirty="0"/>
              <a:t> </a:t>
            </a:r>
            <a:r>
              <a:rPr dirty="0" err="1"/>
              <a:t>경우이고</a:t>
            </a:r>
            <a:r>
              <a:rPr dirty="0"/>
              <a:t>, </a:t>
            </a:r>
            <a:endParaRPr lang="en-US" dirty="0"/>
          </a:p>
          <a:p>
            <a:r>
              <a:rPr dirty="0" err="1"/>
              <a:t>주황색</a:t>
            </a:r>
            <a:r>
              <a:rPr dirty="0"/>
              <a:t> </a:t>
            </a:r>
            <a:r>
              <a:rPr dirty="0" err="1"/>
              <a:t>FP는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구매하지</a:t>
            </a:r>
            <a:r>
              <a:rPr dirty="0"/>
              <a:t> </a:t>
            </a:r>
            <a:r>
              <a:rPr dirty="0" err="1"/>
              <a:t>않았지만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확률이</a:t>
            </a:r>
            <a:r>
              <a:rPr dirty="0"/>
              <a:t> </a:t>
            </a:r>
            <a:r>
              <a:rPr dirty="0" err="1"/>
              <a:t>기준보다</a:t>
            </a:r>
            <a:r>
              <a:rPr dirty="0"/>
              <a:t>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경우입니다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기준값을</a:t>
            </a:r>
            <a:r>
              <a:rPr dirty="0"/>
              <a:t> </a:t>
            </a:r>
            <a:r>
              <a:rPr dirty="0" err="1"/>
              <a:t>낮추면</a:t>
            </a:r>
            <a:r>
              <a:rPr dirty="0"/>
              <a:t> 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고객이</a:t>
            </a:r>
            <a:r>
              <a:rPr dirty="0"/>
              <a:t> </a:t>
            </a:r>
            <a:r>
              <a:rPr dirty="0" err="1"/>
              <a:t>줄어들</a:t>
            </a:r>
            <a:r>
              <a:rPr dirty="0"/>
              <a:t> 수 </a:t>
            </a:r>
            <a:r>
              <a:rPr dirty="0" err="1"/>
              <a:t>있지만</a:t>
            </a:r>
            <a:r>
              <a:rPr dirty="0"/>
              <a:t> </a:t>
            </a:r>
            <a:r>
              <a:rPr dirty="0" err="1"/>
              <a:t>FP가</a:t>
            </a:r>
            <a:r>
              <a:rPr dirty="0"/>
              <a:t> </a:t>
            </a:r>
            <a:r>
              <a:rPr dirty="0" err="1"/>
              <a:t>늘어날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서비스에서는</a:t>
            </a:r>
            <a:r>
              <a:rPr dirty="0"/>
              <a:t> 두 </a:t>
            </a:r>
            <a:r>
              <a:rPr dirty="0" err="1"/>
              <a:t>오류의</a:t>
            </a:r>
            <a:r>
              <a:rPr dirty="0"/>
              <a:t> </a:t>
            </a:r>
            <a:r>
              <a:rPr dirty="0" err="1"/>
              <a:t>비용을</a:t>
            </a:r>
            <a:r>
              <a:rPr dirty="0"/>
              <a:t> </a:t>
            </a:r>
            <a:r>
              <a:rPr dirty="0" err="1"/>
              <a:t>고려해</a:t>
            </a:r>
            <a:r>
              <a:rPr dirty="0"/>
              <a:t> </a:t>
            </a:r>
            <a:r>
              <a:rPr dirty="0" err="1"/>
              <a:t>기준값을</a:t>
            </a:r>
            <a:r>
              <a:rPr dirty="0"/>
              <a:t> </a:t>
            </a:r>
            <a:r>
              <a:rPr dirty="0" err="1"/>
              <a:t>정해야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방문자</a:t>
            </a:r>
            <a:r>
              <a:rPr dirty="0"/>
              <a:t> </a:t>
            </a:r>
            <a:r>
              <a:rPr dirty="0" err="1"/>
              <a:t>유형과</a:t>
            </a:r>
            <a:r>
              <a:rPr dirty="0"/>
              <a:t> </a:t>
            </a:r>
            <a:r>
              <a:rPr dirty="0" err="1"/>
              <a:t>월별로</a:t>
            </a:r>
            <a:r>
              <a:rPr dirty="0"/>
              <a:t> </a:t>
            </a:r>
            <a:r>
              <a:rPr dirty="0" err="1"/>
              <a:t>오류를</a:t>
            </a:r>
            <a:r>
              <a:rPr dirty="0"/>
              <a:t> </a:t>
            </a:r>
            <a:r>
              <a:rPr dirty="0" err="1"/>
              <a:t>나누어</a:t>
            </a:r>
            <a:r>
              <a:rPr dirty="0"/>
              <a:t> </a:t>
            </a:r>
            <a:r>
              <a:rPr dirty="0" err="1"/>
              <a:t>봤습니다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재방문</a:t>
            </a:r>
            <a:r>
              <a:rPr dirty="0"/>
              <a:t> </a:t>
            </a:r>
            <a:r>
              <a:rPr dirty="0" err="1"/>
              <a:t>고객에서는</a:t>
            </a:r>
            <a:r>
              <a:rPr dirty="0"/>
              <a:t> </a:t>
            </a:r>
            <a:r>
              <a:rPr dirty="0" err="1"/>
              <a:t>FP가</a:t>
            </a:r>
            <a:r>
              <a:rPr dirty="0"/>
              <a:t> 121건, </a:t>
            </a:r>
            <a:r>
              <a:rPr dirty="0" err="1"/>
              <a:t>FN이</a:t>
            </a:r>
            <a:r>
              <a:rPr dirty="0"/>
              <a:t> 113건이었고, </a:t>
            </a:r>
            <a:endParaRPr lang="en-US" dirty="0"/>
          </a:p>
          <a:p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고객에서는</a:t>
            </a:r>
            <a:r>
              <a:rPr dirty="0"/>
              <a:t> </a:t>
            </a:r>
            <a:r>
              <a:rPr dirty="0" err="1"/>
              <a:t>FP가</a:t>
            </a:r>
            <a:r>
              <a:rPr dirty="0"/>
              <a:t> 9건, </a:t>
            </a:r>
            <a:r>
              <a:rPr dirty="0" err="1"/>
              <a:t>FN이</a:t>
            </a:r>
            <a:r>
              <a:rPr dirty="0"/>
              <a:t> 20건이었습니다. </a:t>
            </a:r>
            <a:endParaRPr lang="en-US" dirty="0"/>
          </a:p>
          <a:p>
            <a:r>
              <a:rPr dirty="0"/>
              <a:t>11월에는 FP 49건, FN 72건이 </a:t>
            </a:r>
            <a:r>
              <a:rPr dirty="0" err="1"/>
              <a:t>발생했습니다</a:t>
            </a:r>
            <a:r>
              <a:rPr dirty="0"/>
              <a:t>. </a:t>
            </a:r>
            <a:endParaRPr lang="en-US" dirty="0"/>
          </a:p>
          <a:p>
            <a:r>
              <a:rPr lang="ko-KR" altLang="ko-KR" dirty="0"/>
              <a:t>다만 오류 건수는 해당 집단의 방문자 수에 영향을 받기 때문에, 건수가 많다는 이유만으로 예측 성능이 더 나쁘다고 단정할 수는 없습니다. </a:t>
            </a:r>
            <a:endParaRPr lang="en-US" altLang="ko-KR" dirty="0"/>
          </a:p>
          <a:p>
            <a:r>
              <a:rPr lang="ko-KR" altLang="ko-KR" dirty="0"/>
              <a:t>다음으로는 유입 경로별 오류를 살펴보겠습니다.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이번에는</a:t>
            </a:r>
            <a:r>
              <a:rPr dirty="0"/>
              <a:t> </a:t>
            </a:r>
            <a:r>
              <a:rPr dirty="0" err="1"/>
              <a:t>TrafficType</a:t>
            </a:r>
            <a:r>
              <a:rPr dirty="0"/>
              <a:t>, 즉 </a:t>
            </a:r>
            <a:r>
              <a:rPr dirty="0" err="1"/>
              <a:t>고객의</a:t>
            </a:r>
            <a:r>
              <a:rPr dirty="0"/>
              <a:t> </a:t>
            </a:r>
            <a:r>
              <a:rPr dirty="0" err="1"/>
              <a:t>유입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유형별로</a:t>
            </a:r>
            <a:r>
              <a:rPr dirty="0"/>
              <a:t> </a:t>
            </a:r>
            <a:r>
              <a:rPr dirty="0" err="1"/>
              <a:t>오류를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</a:t>
            </a:r>
          </a:p>
          <a:p>
            <a:r>
              <a:rPr dirty="0" err="1"/>
              <a:t>TrafficType</a:t>
            </a:r>
            <a:r>
              <a:rPr dirty="0"/>
              <a:t> 2에서 FP 51건, FN 53건으로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건수가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많았습니다</a:t>
            </a:r>
            <a:r>
              <a:rPr dirty="0"/>
              <a:t>.</a:t>
            </a:r>
          </a:p>
          <a:p>
            <a:r>
              <a:rPr dirty="0" err="1"/>
              <a:t>다만</a:t>
            </a:r>
            <a:r>
              <a:rPr dirty="0"/>
              <a:t> 이 </a:t>
            </a:r>
            <a:r>
              <a:rPr dirty="0" err="1"/>
              <a:t>유형의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수가</a:t>
            </a:r>
            <a:r>
              <a:rPr dirty="0"/>
              <a:t> </a:t>
            </a:r>
            <a:r>
              <a:rPr dirty="0" err="1"/>
              <a:t>많아서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건수가</a:t>
            </a:r>
            <a:r>
              <a:rPr dirty="0"/>
              <a:t> </a:t>
            </a:r>
            <a:r>
              <a:rPr dirty="0" err="1"/>
              <a:t>많을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건수만으로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유입</a:t>
            </a:r>
            <a:r>
              <a:rPr dirty="0"/>
              <a:t> </a:t>
            </a:r>
            <a:r>
              <a:rPr dirty="0" err="1"/>
              <a:t>경로에서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나쁘다고</a:t>
            </a:r>
            <a:r>
              <a:rPr dirty="0"/>
              <a:t> </a:t>
            </a:r>
            <a:r>
              <a:rPr dirty="0" err="1"/>
              <a:t>단정할</a:t>
            </a:r>
            <a:r>
              <a:rPr dirty="0"/>
              <a:t> </a:t>
            </a:r>
            <a:r>
              <a:rPr dirty="0" err="1"/>
              <a:t>수는</a:t>
            </a:r>
            <a:r>
              <a:rPr dirty="0"/>
              <a:t> </a:t>
            </a:r>
            <a:r>
              <a:rPr dirty="0" err="1"/>
              <a:t>없습니다</a:t>
            </a:r>
            <a:r>
              <a:rPr dirty="0"/>
              <a:t>.</a:t>
            </a:r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페이지에서는</a:t>
            </a:r>
            <a:r>
              <a:rPr dirty="0"/>
              <a:t> </a:t>
            </a:r>
            <a:r>
              <a:rPr dirty="0" err="1"/>
              <a:t>방문자</a:t>
            </a:r>
            <a:r>
              <a:rPr dirty="0"/>
              <a:t> </a:t>
            </a:r>
            <a:r>
              <a:rPr dirty="0" err="1"/>
              <a:t>유형별로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놓친</a:t>
            </a:r>
            <a:r>
              <a:rPr dirty="0"/>
              <a:t> </a:t>
            </a:r>
            <a:r>
              <a:rPr dirty="0" err="1"/>
              <a:t>비율을</a:t>
            </a:r>
            <a:r>
              <a:rPr dirty="0"/>
              <a:t> </a:t>
            </a:r>
            <a:r>
              <a:rPr dirty="0" err="1"/>
              <a:t>살펴보겠습니다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이번에는 단순 오류 건수가 아니라, 실제 구매 고객 중 모델이 놓친 비율을 확인했습니다.</a:t>
            </a:r>
          </a:p>
          <a:p>
            <a:r>
              <a:t>재방문 고객은 약 38.97퍼센트, 신규 방문 고객은 약 22.47퍼센트였습니다.</a:t>
            </a:r>
          </a:p>
          <a:p>
            <a:r>
              <a:t>즉 실제로 구매한 재방문 고객을 모델이 상대적으로 더 자주 놓쳤습니다.</a:t>
            </a:r>
          </a:p>
          <a:p>
            <a:r>
              <a:t>따라서 재방문 고객의 행동 특성을 추가로 분석하는 것이 개선 방향이 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앞에서</a:t>
            </a:r>
            <a:r>
              <a:rPr dirty="0"/>
              <a:t> </a:t>
            </a:r>
            <a:r>
              <a:rPr dirty="0" err="1"/>
              <a:t>탐색적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, 즉 </a:t>
            </a:r>
            <a:r>
              <a:rPr dirty="0" err="1"/>
              <a:t>EDA에서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특징이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모델에서도</a:t>
            </a:r>
            <a:r>
              <a:rPr dirty="0"/>
              <a:t> </a:t>
            </a:r>
            <a:r>
              <a:rPr dirty="0" err="1"/>
              <a:t>중요했는지</a:t>
            </a:r>
            <a:r>
              <a:rPr dirty="0"/>
              <a:t> </a:t>
            </a:r>
            <a:r>
              <a:rPr dirty="0" err="1"/>
              <a:t>비교했습니다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고객에게서</a:t>
            </a:r>
            <a:r>
              <a:rPr dirty="0"/>
              <a:t> </a:t>
            </a:r>
            <a:r>
              <a:rPr dirty="0" err="1"/>
              <a:t>높게</a:t>
            </a:r>
            <a:r>
              <a:rPr dirty="0"/>
              <a:t> </a:t>
            </a:r>
            <a:r>
              <a:rPr dirty="0" err="1"/>
              <a:t>나타난</a:t>
            </a:r>
            <a:r>
              <a:rPr dirty="0"/>
              <a:t> </a:t>
            </a:r>
            <a:r>
              <a:rPr dirty="0" err="1"/>
              <a:t>PageValues는</a:t>
            </a:r>
            <a:r>
              <a:rPr dirty="0"/>
              <a:t> </a:t>
            </a:r>
            <a:r>
              <a:rPr dirty="0" err="1"/>
              <a:t>XGBoost에서도</a:t>
            </a:r>
            <a:r>
              <a:rPr dirty="0"/>
              <a:t> </a:t>
            </a:r>
            <a:r>
              <a:rPr dirty="0" err="1"/>
              <a:t>중요도</a:t>
            </a:r>
            <a:r>
              <a:rPr dirty="0"/>
              <a:t> 1위였습니다. </a:t>
            </a:r>
            <a:endParaRPr lang="en-US" dirty="0"/>
          </a:p>
          <a:p>
            <a:r>
              <a:rPr dirty="0" err="1"/>
              <a:t>ExitRates와</a:t>
            </a:r>
            <a:r>
              <a:rPr dirty="0"/>
              <a:t> </a:t>
            </a:r>
            <a:r>
              <a:rPr dirty="0" err="1"/>
              <a:t>ProductRelated</a:t>
            </a:r>
            <a:r>
              <a:rPr dirty="0"/>
              <a:t> </a:t>
            </a:r>
            <a:r>
              <a:rPr dirty="0" err="1"/>
              <a:t>역시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변수로</a:t>
            </a:r>
            <a:r>
              <a:rPr dirty="0"/>
              <a:t> </a:t>
            </a:r>
            <a:r>
              <a:rPr dirty="0" err="1"/>
              <a:t>사용됐습니다</a:t>
            </a:r>
            <a:r>
              <a:rPr dirty="0"/>
              <a:t>. 또 11월 </a:t>
            </a:r>
            <a:r>
              <a:rPr dirty="0" err="1"/>
              <a:t>구매율이</a:t>
            </a:r>
            <a:r>
              <a:rPr dirty="0"/>
              <a:t> </a:t>
            </a:r>
            <a:r>
              <a:rPr dirty="0" err="1"/>
              <a:t>높았던</a:t>
            </a:r>
            <a:r>
              <a:rPr dirty="0"/>
              <a:t> </a:t>
            </a:r>
            <a:r>
              <a:rPr dirty="0" err="1"/>
              <a:t>패턴과</a:t>
            </a:r>
            <a:r>
              <a:rPr dirty="0"/>
              <a:t> </a:t>
            </a:r>
            <a:r>
              <a:rPr dirty="0" err="1"/>
              <a:t>관련해</a:t>
            </a:r>
            <a:r>
              <a:rPr dirty="0"/>
              <a:t> 11월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Month_Nov도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변수로</a:t>
            </a:r>
            <a:r>
              <a:rPr dirty="0"/>
              <a:t> </a:t>
            </a:r>
            <a:r>
              <a:rPr dirty="0" err="1"/>
              <a:t>나타났습니다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중요도가</a:t>
            </a:r>
            <a:r>
              <a:rPr dirty="0"/>
              <a:t> </a:t>
            </a:r>
            <a:r>
              <a:rPr dirty="0" err="1"/>
              <a:t>높다는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모델이</a:t>
            </a:r>
            <a:r>
              <a:rPr dirty="0"/>
              <a:t> </a:t>
            </a:r>
            <a:r>
              <a:rPr dirty="0" err="1"/>
              <a:t>예측에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활용했다는</a:t>
            </a:r>
            <a:r>
              <a:rPr dirty="0"/>
              <a:t> </a:t>
            </a:r>
            <a:r>
              <a:rPr dirty="0" err="1"/>
              <a:t>뜻이지</a:t>
            </a:r>
            <a:r>
              <a:rPr dirty="0"/>
              <a:t> </a:t>
            </a:r>
            <a:r>
              <a:rPr dirty="0" err="1"/>
              <a:t>구매의</a:t>
            </a:r>
            <a:r>
              <a:rPr dirty="0"/>
              <a:t> </a:t>
            </a:r>
            <a:r>
              <a:rPr dirty="0" err="1"/>
              <a:t>직접적인</a:t>
            </a:r>
            <a:r>
              <a:rPr dirty="0"/>
              <a:t> </a:t>
            </a:r>
            <a:r>
              <a:rPr dirty="0" err="1"/>
              <a:t>원인이라는</a:t>
            </a:r>
            <a:r>
              <a:rPr dirty="0"/>
              <a:t> </a:t>
            </a:r>
            <a:r>
              <a:rPr dirty="0" err="1"/>
              <a:t>뜻은</a:t>
            </a:r>
            <a:r>
              <a:rPr dirty="0"/>
              <a:t> </a:t>
            </a:r>
            <a:r>
              <a:rPr dirty="0" err="1"/>
              <a:t>아닙니다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XGBoost의</a:t>
            </a:r>
            <a:r>
              <a:rPr dirty="0"/>
              <a:t> Feature Importance, 즉 </a:t>
            </a:r>
            <a:r>
              <a:rPr dirty="0" err="1"/>
              <a:t>변수</a:t>
            </a:r>
            <a:r>
              <a:rPr dirty="0"/>
              <a:t> </a:t>
            </a:r>
            <a:r>
              <a:rPr dirty="0" err="1"/>
              <a:t>중요도를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변수는</a:t>
            </a:r>
            <a:r>
              <a:rPr dirty="0"/>
              <a:t> </a:t>
            </a:r>
            <a:r>
              <a:rPr dirty="0" err="1"/>
              <a:t>PageValues로</a:t>
            </a:r>
            <a:r>
              <a:rPr dirty="0"/>
              <a:t> </a:t>
            </a:r>
            <a:r>
              <a:rPr dirty="0" err="1"/>
              <a:t>중요도가</a:t>
            </a:r>
            <a:r>
              <a:rPr dirty="0"/>
              <a:t> 약 0.358이었습니다. </a:t>
            </a:r>
            <a:endParaRPr lang="en-US" dirty="0"/>
          </a:p>
          <a:p>
            <a:r>
              <a:rPr dirty="0" err="1"/>
              <a:t>다음으로</a:t>
            </a:r>
            <a:r>
              <a:rPr dirty="0"/>
              <a:t> 11월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나타내는</a:t>
            </a:r>
            <a:r>
              <a:rPr dirty="0"/>
              <a:t> </a:t>
            </a:r>
            <a:r>
              <a:rPr dirty="0" err="1"/>
              <a:t>Month_Nov와</a:t>
            </a:r>
            <a:r>
              <a:rPr dirty="0"/>
              <a:t> </a:t>
            </a:r>
            <a:r>
              <a:rPr dirty="0" err="1"/>
              <a:t>ExitRates</a:t>
            </a:r>
            <a:r>
              <a:rPr dirty="0"/>
              <a:t>, </a:t>
            </a:r>
            <a:r>
              <a:rPr dirty="0" err="1"/>
              <a:t>ProductRelated</a:t>
            </a:r>
            <a:r>
              <a:rPr dirty="0"/>
              <a:t> </a:t>
            </a:r>
            <a:r>
              <a:rPr dirty="0" err="1"/>
              <a:t>등도</a:t>
            </a:r>
            <a:r>
              <a:rPr dirty="0"/>
              <a:t> </a:t>
            </a:r>
            <a:r>
              <a:rPr dirty="0" err="1"/>
              <a:t>예측에</a:t>
            </a:r>
            <a:r>
              <a:rPr dirty="0"/>
              <a:t> </a:t>
            </a:r>
            <a:r>
              <a:rPr dirty="0" err="1"/>
              <a:t>사용됐습니다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앞서</a:t>
            </a:r>
            <a:r>
              <a:rPr dirty="0"/>
              <a:t> </a:t>
            </a:r>
            <a:r>
              <a:rPr dirty="0" err="1"/>
              <a:t>EDA에서</a:t>
            </a:r>
            <a:r>
              <a:rPr dirty="0"/>
              <a:t> </a:t>
            </a:r>
            <a:r>
              <a:rPr dirty="0" err="1"/>
              <a:t>PageValues가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고객과</a:t>
            </a:r>
            <a:r>
              <a:rPr dirty="0"/>
              <a:t> </a:t>
            </a:r>
            <a:r>
              <a:rPr dirty="0" err="1"/>
              <a:t>관련이</a:t>
            </a:r>
            <a:r>
              <a:rPr dirty="0"/>
              <a:t> </a:t>
            </a:r>
            <a:r>
              <a:rPr dirty="0" err="1"/>
              <a:t>크다고</a:t>
            </a:r>
            <a:r>
              <a:rPr dirty="0"/>
              <a:t> </a:t>
            </a:r>
            <a:r>
              <a:rPr dirty="0" err="1"/>
              <a:t>관찰했는데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모델에서도</a:t>
            </a:r>
            <a:r>
              <a:rPr dirty="0"/>
              <a:t> </a:t>
            </a:r>
            <a:r>
              <a:rPr dirty="0" err="1"/>
              <a:t>중요하게</a:t>
            </a:r>
            <a:r>
              <a:rPr dirty="0"/>
              <a:t> </a:t>
            </a:r>
            <a:r>
              <a:rPr dirty="0" err="1"/>
              <a:t>사용되었다는</a:t>
            </a:r>
            <a:r>
              <a:rPr dirty="0"/>
              <a:t> </a:t>
            </a:r>
            <a:r>
              <a:rPr dirty="0" err="1"/>
              <a:t>점을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수 </a:t>
            </a:r>
            <a:r>
              <a:rPr dirty="0" err="1"/>
              <a:t>있었습니다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정리하겠습니다</a:t>
            </a:r>
            <a:r>
              <a:rPr dirty="0"/>
              <a:t>.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프로젝트에서는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행동으로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예측하고</a:t>
            </a:r>
            <a:r>
              <a:rPr dirty="0"/>
              <a:t>,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모델과</a:t>
            </a:r>
            <a:r>
              <a:rPr dirty="0"/>
              <a:t> </a:t>
            </a:r>
            <a:r>
              <a:rPr dirty="0" err="1"/>
              <a:t>설정을</a:t>
            </a:r>
            <a:r>
              <a:rPr dirty="0"/>
              <a:t> </a:t>
            </a:r>
            <a:r>
              <a:rPr dirty="0" err="1"/>
              <a:t>비교해</a:t>
            </a:r>
            <a:r>
              <a:rPr dirty="0"/>
              <a:t> </a:t>
            </a:r>
            <a:r>
              <a:rPr dirty="0" err="1"/>
              <a:t>최종적으로</a:t>
            </a:r>
            <a:r>
              <a:rPr dirty="0"/>
              <a:t> </a:t>
            </a:r>
            <a:r>
              <a:rPr dirty="0" err="1"/>
              <a:t>XGBoost를</a:t>
            </a:r>
            <a:r>
              <a:rPr dirty="0"/>
              <a:t> </a:t>
            </a:r>
            <a:r>
              <a:rPr dirty="0" err="1"/>
              <a:t>선택했습니다</a:t>
            </a:r>
            <a:r>
              <a:rPr dirty="0"/>
              <a:t>.</a:t>
            </a:r>
            <a:endParaRPr lang="en-US" dirty="0"/>
          </a:p>
          <a:p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고객을</a:t>
            </a:r>
            <a:r>
              <a:rPr dirty="0"/>
              <a:t> </a:t>
            </a:r>
            <a:r>
              <a:rPr dirty="0" err="1"/>
              <a:t>놓치지</a:t>
            </a:r>
            <a:r>
              <a:rPr dirty="0"/>
              <a:t> </a:t>
            </a:r>
            <a:r>
              <a:rPr dirty="0" err="1"/>
              <a:t>않도록</a:t>
            </a:r>
            <a:r>
              <a:rPr dirty="0"/>
              <a:t> </a:t>
            </a:r>
            <a:r>
              <a:rPr dirty="0" err="1"/>
              <a:t>재현율을</a:t>
            </a:r>
            <a:r>
              <a:rPr dirty="0"/>
              <a:t> </a:t>
            </a:r>
            <a:r>
              <a:rPr dirty="0" err="1"/>
              <a:t>중요하게</a:t>
            </a:r>
            <a:r>
              <a:rPr dirty="0"/>
              <a:t> </a:t>
            </a:r>
            <a:r>
              <a:rPr dirty="0" err="1"/>
              <a:t>고려했지만</a:t>
            </a:r>
            <a:r>
              <a:rPr dirty="0"/>
              <a:t>, F1 </a:t>
            </a:r>
            <a:r>
              <a:rPr dirty="0" err="1"/>
              <a:t>점수와</a:t>
            </a:r>
            <a:r>
              <a:rPr dirty="0"/>
              <a:t> </a:t>
            </a:r>
            <a:r>
              <a:rPr dirty="0" err="1"/>
              <a:t>정확도도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살폈습니다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테스트에서</a:t>
            </a:r>
            <a:r>
              <a:rPr dirty="0"/>
              <a:t> </a:t>
            </a:r>
            <a:r>
              <a:rPr dirty="0" err="1"/>
              <a:t>정확도는</a:t>
            </a:r>
            <a:r>
              <a:rPr dirty="0"/>
              <a:t> 0.8933, </a:t>
            </a:r>
            <a:r>
              <a:rPr dirty="0" err="1"/>
              <a:t>재현율은</a:t>
            </a:r>
            <a:r>
              <a:rPr dirty="0"/>
              <a:t> 0.6518, F1 </a:t>
            </a:r>
            <a:r>
              <a:rPr dirty="0" err="1"/>
              <a:t>점수는</a:t>
            </a:r>
            <a:r>
              <a:rPr dirty="0"/>
              <a:t> 0.6544였습니다.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 133건을 </a:t>
            </a:r>
            <a:r>
              <a:rPr dirty="0" err="1"/>
              <a:t>놓쳤고</a:t>
            </a:r>
            <a:r>
              <a:rPr dirty="0"/>
              <a:t>, 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가치가</a:t>
            </a:r>
            <a:r>
              <a:rPr dirty="0"/>
              <a:t> </a:t>
            </a:r>
            <a:r>
              <a:rPr dirty="0" err="1"/>
              <a:t>낮거나</a:t>
            </a:r>
            <a:r>
              <a:rPr dirty="0"/>
              <a:t> </a:t>
            </a:r>
            <a:r>
              <a:rPr dirty="0" err="1"/>
              <a:t>재방문</a:t>
            </a:r>
            <a:r>
              <a:rPr dirty="0"/>
              <a:t> </a:t>
            </a:r>
            <a:r>
              <a:rPr dirty="0" err="1"/>
              <a:t>고객인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세션에서</a:t>
            </a:r>
            <a:r>
              <a:rPr dirty="0"/>
              <a:t> </a:t>
            </a:r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나타났습니다</a:t>
            </a:r>
            <a:r>
              <a:rPr dirty="0"/>
              <a:t>. </a:t>
            </a:r>
            <a:endParaRPr lang="en-US" dirty="0"/>
          </a:p>
          <a:p>
            <a:r>
              <a:rPr dirty="0" err="1"/>
              <a:t>앞으로는</a:t>
            </a:r>
            <a:r>
              <a:rPr dirty="0"/>
              <a:t> </a:t>
            </a:r>
            <a:r>
              <a:rPr dirty="0" err="1"/>
              <a:t>FP와</a:t>
            </a:r>
            <a:r>
              <a:rPr dirty="0"/>
              <a:t> </a:t>
            </a:r>
            <a:r>
              <a:rPr dirty="0" err="1"/>
              <a:t>FN의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비용을</a:t>
            </a:r>
            <a:r>
              <a:rPr dirty="0"/>
              <a:t> </a:t>
            </a:r>
            <a:r>
              <a:rPr dirty="0" err="1"/>
              <a:t>비교해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조정하고</a:t>
            </a:r>
            <a:r>
              <a:rPr dirty="0"/>
              <a:t>,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독립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검증하고</a:t>
            </a:r>
            <a:r>
              <a:rPr dirty="0"/>
              <a:t> </a:t>
            </a:r>
            <a:r>
              <a:rPr dirty="0" err="1"/>
              <a:t>싶습니다</a:t>
            </a:r>
            <a:r>
              <a:rPr dirty="0"/>
              <a:t>. </a:t>
            </a:r>
            <a:r>
              <a:rPr dirty="0" err="1"/>
              <a:t>이상으로</a:t>
            </a:r>
            <a:r>
              <a:rPr dirty="0"/>
              <a:t> </a:t>
            </a:r>
            <a:r>
              <a:rPr dirty="0" err="1"/>
              <a:t>발표를</a:t>
            </a:r>
            <a:r>
              <a:rPr dirty="0"/>
              <a:t> </a:t>
            </a:r>
            <a:r>
              <a:rPr dirty="0" err="1"/>
              <a:t>마치겠습니다</a:t>
            </a:r>
            <a:r>
              <a:rPr dirty="0"/>
              <a:t>. </a:t>
            </a:r>
            <a:r>
              <a:rPr dirty="0" err="1"/>
              <a:t>감사합니다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1965960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온라인</a:t>
            </a:r>
            <a:r>
              <a:rPr dirty="0"/>
              <a:t> </a:t>
            </a:r>
            <a:r>
              <a:rPr dirty="0" err="1"/>
              <a:t>쇼핑몰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의도</a:t>
            </a:r>
            <a:r>
              <a:rPr dirty="0"/>
              <a:t> </a:t>
            </a:r>
            <a:r>
              <a:rPr dirty="0" err="1"/>
              <a:t>예측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60120" y="2889504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14141"/>
                </a:solidFill>
                <a:latin typeface="맑은 고딕"/>
              </a:defRPr>
            </a:pPr>
            <a:r>
              <a:t>Online Shoppers Purchasing Intention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133087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실전 AI 개발 미니 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6451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5F5F"/>
                </a:solidFill>
                <a:latin typeface="맑은 고딕"/>
              </a:defRPr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·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·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평가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6E3C8-D8B7-D7C1-F414-C053B3ACCFC1}"/>
              </a:ext>
            </a:extLst>
          </p:cNvPr>
          <p:cNvSpPr txBox="1"/>
          <p:nvPr/>
        </p:nvSpPr>
        <p:spPr>
          <a:xfrm>
            <a:off x="1015539" y="5169962"/>
            <a:ext cx="1027145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5F5F"/>
                </a:solidFill>
                <a:latin typeface="맑은 고딕"/>
              </a:defRPr>
            </a:pPr>
            <a:r>
              <a:rPr lang="ko-KR" altLang="en-US" dirty="0"/>
              <a:t>김기열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목표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B4B4B"/>
                </a:solidFill>
                <a:latin typeface="맑은 고딕"/>
              </a:defRPr>
            </a:pPr>
            <a:r>
              <a:t>실전 AI 개발 미니 프로젝트 |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41414"/>
                </a:solidFill>
                <a:latin typeface="맑은 고딕"/>
              </a:defRPr>
            </a:pPr>
            <a:r>
              <a:t>• Online Shoppers Purchasing Intention 데이터 기반 분류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고객의 웹사이트 방문 행동으로 실제 구매 여부(Revenue) 예측</a:t>
            </a:r>
          </a:p>
          <a:p>
            <a:r>
              <a:t>• 여러 분류 모델의 성능을 비교하고 구매 고객을 놓치는 오류(FN)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데이터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41414"/>
                </a:solidFill>
                <a:latin typeface="맑은 고딕"/>
              </a:defRPr>
            </a:pPr>
            <a:r>
              <a:t>• 12,330개 온라인 쇼핑 세션 / 입력 변수 17개 / 목표 변수 Revenue(구매 여부)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59152"/>
            <a:ext cx="1060704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41414"/>
                </a:solidFill>
                <a:latin typeface="맑은 고딕"/>
              </a:defRPr>
            </a:pPr>
            <a:r>
              <a:t>• 구매 여부: True(구매), False(비구매)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47237"/>
            <a:ext cx="1060704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41414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변수</a:t>
            </a:r>
            <a:r>
              <a:rPr dirty="0"/>
              <a:t>: </a:t>
            </a:r>
            <a:r>
              <a:rPr dirty="0" err="1"/>
              <a:t>PageValues</a:t>
            </a:r>
            <a:r>
              <a:rPr dirty="0"/>
              <a:t>(</a:t>
            </a:r>
            <a:r>
              <a:rPr dirty="0" err="1"/>
              <a:t>구매에</a:t>
            </a:r>
            <a:r>
              <a:rPr dirty="0"/>
              <a:t> </a:t>
            </a:r>
            <a:r>
              <a:rPr dirty="0" err="1"/>
              <a:t>기여한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가치</a:t>
            </a:r>
            <a:r>
              <a:rPr dirty="0"/>
              <a:t>), </a:t>
            </a:r>
            <a:r>
              <a:rPr dirty="0" err="1"/>
              <a:t>ProductRelated</a:t>
            </a:r>
            <a:r>
              <a:rPr dirty="0"/>
              <a:t>(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수), </a:t>
            </a:r>
            <a:r>
              <a:rPr dirty="0" err="1"/>
              <a:t>ExitRates</a:t>
            </a:r>
            <a:r>
              <a:rPr dirty="0"/>
              <a:t>(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페이지에서</a:t>
            </a:r>
            <a:r>
              <a:rPr dirty="0"/>
              <a:t> </a:t>
            </a:r>
            <a:r>
              <a:rPr dirty="0" err="1"/>
              <a:t>사이트를</a:t>
            </a:r>
            <a:r>
              <a:rPr dirty="0"/>
              <a:t> </a:t>
            </a:r>
            <a:r>
              <a:rPr dirty="0" err="1"/>
              <a:t>떠난</a:t>
            </a:r>
            <a:r>
              <a:rPr dirty="0"/>
              <a:t> </a:t>
            </a:r>
            <a:r>
              <a:rPr dirty="0" err="1"/>
              <a:t>비율</a:t>
            </a:r>
            <a:r>
              <a:rPr dirty="0"/>
              <a:t>), </a:t>
            </a:r>
            <a:r>
              <a:rPr dirty="0" err="1"/>
              <a:t>VisitorType</a:t>
            </a:r>
            <a:r>
              <a:rPr dirty="0"/>
              <a:t>(</a:t>
            </a:r>
            <a:r>
              <a:rPr dirty="0" err="1"/>
              <a:t>방문자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) 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62857"/>
            <a:ext cx="10607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41414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결측치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EDA — 구매·비구매 클래스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B4B4B"/>
                </a:solidFill>
                <a:latin typeface="맑은 고딕"/>
              </a:defRPr>
            </a:pPr>
            <a:r>
              <a:t>비구매 84.53% / 구매 15.47%: 클래스 불균형 존재</a:t>
            </a:r>
          </a:p>
        </p:txBody>
      </p:sp>
      <p:pic>
        <p:nvPicPr>
          <p:cNvPr id="5" name="Picture 4" descr="cell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29831"/>
            <a:ext cx="5943600" cy="44041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920240"/>
            <a:ext cx="5120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비구매 세션 10,422개 / 구매 세션 1,908개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834640"/>
            <a:ext cx="5120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정확도만으로 모델을 평가하기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3749039"/>
            <a:ext cx="51206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정밀도(Precision) · 재현율(Recall) · F1-score도 함께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EDA — 구매 행동과 주요 변수</a:t>
            </a:r>
          </a:p>
        </p:txBody>
      </p:sp>
      <p:pic>
        <p:nvPicPr>
          <p:cNvPr id="4" name="Picture 3" descr="cell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6727"/>
            <a:ext cx="3657600" cy="2764465"/>
          </a:xfrm>
          <a:prstGeom prst="rect">
            <a:avLst/>
          </a:prstGeom>
        </p:spPr>
      </p:pic>
      <p:pic>
        <p:nvPicPr>
          <p:cNvPr id="5" name="Picture 4" descr="cell2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6562"/>
            <a:ext cx="3657599" cy="2924794"/>
          </a:xfrm>
          <a:prstGeom prst="rect">
            <a:avLst/>
          </a:prstGeom>
        </p:spPr>
      </p:pic>
      <p:pic>
        <p:nvPicPr>
          <p:cNvPr id="6" name="Picture 5" descr="cell35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669333"/>
            <a:ext cx="3657600" cy="2879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93776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구매 세션은 상품 페이지 방문 횟수와 PageValues가 높은 경향</a:t>
            </a:r>
          </a:p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비구매 세션은 ExitRates가 높은 경향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EDA — 방문 유형과 시점</a:t>
            </a:r>
          </a:p>
        </p:txBody>
      </p:sp>
      <p:pic>
        <p:nvPicPr>
          <p:cNvPr id="4" name="Picture 3" descr="cell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13" y="1463040"/>
            <a:ext cx="4958013" cy="3931920"/>
          </a:xfrm>
          <a:prstGeom prst="rect">
            <a:avLst/>
          </a:prstGeom>
        </p:spPr>
      </p:pic>
      <p:pic>
        <p:nvPicPr>
          <p:cNvPr id="5" name="Picture 4" descr="cell4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45" y="1463040"/>
            <a:ext cx="4968909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5955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신규 방문자 구매율 약 24.91% · 11월 구매율 약 25.35%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EDA — 주요 변수와 구매 여부의 상관관계</a:t>
            </a:r>
          </a:p>
        </p:txBody>
      </p:sp>
      <p:pic>
        <p:nvPicPr>
          <p:cNvPr id="3" name="Picture 2" descr="cell5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057" y="535747"/>
            <a:ext cx="6999704" cy="5647302"/>
          </a:xfrm>
          <a:prstGeom prst="rect">
            <a:avLst/>
          </a:prstGeom>
        </p:spPr>
      </p:pic>
      <p:sp>
        <p:nvSpPr>
          <p:cNvPr id="4" name="TextBox 1"/>
          <p:cNvSpPr txBox="1"/>
          <p:nvPr/>
        </p:nvSpPr>
        <p:spPr>
          <a:xfrm>
            <a:off x="145111" y="1394102"/>
            <a:ext cx="49380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 err="1">
                <a:latin typeface="맑은 고딕"/>
              </a:rPr>
              <a:t>PageValues</a:t>
            </a:r>
            <a:r>
              <a:rPr sz="2400" dirty="0">
                <a:latin typeface="맑은 고딕"/>
              </a:rPr>
              <a:t>(</a:t>
            </a:r>
            <a:r>
              <a:rPr sz="2400" dirty="0" err="1">
                <a:latin typeface="맑은 고딕"/>
              </a:rPr>
              <a:t>페이지</a:t>
            </a:r>
            <a:r>
              <a:rPr sz="2400" dirty="0">
                <a:latin typeface="맑은 고딕"/>
              </a:rPr>
              <a:t> </a:t>
            </a:r>
            <a:r>
              <a:rPr sz="2400" dirty="0" err="1">
                <a:latin typeface="맑은 고딕"/>
              </a:rPr>
              <a:t>가치</a:t>
            </a:r>
            <a:r>
              <a:rPr sz="2400" dirty="0">
                <a:latin typeface="맑은 고딕"/>
              </a:rPr>
              <a:t>)는 Revenue(</a:t>
            </a:r>
            <a:r>
              <a:rPr sz="2400" dirty="0" err="1">
                <a:latin typeface="맑은 고딕"/>
              </a:rPr>
              <a:t>구매</a:t>
            </a:r>
            <a:r>
              <a:rPr sz="2400" dirty="0">
                <a:latin typeface="맑은 고딕"/>
              </a:rPr>
              <a:t> </a:t>
            </a:r>
            <a:r>
              <a:rPr sz="2400" dirty="0" err="1">
                <a:latin typeface="맑은 고딕"/>
              </a:rPr>
              <a:t>여부</a:t>
            </a:r>
            <a:r>
              <a:rPr sz="2400" dirty="0">
                <a:latin typeface="맑은 고딕"/>
              </a:rPr>
              <a:t>)와 </a:t>
            </a:r>
            <a:r>
              <a:rPr sz="2400" dirty="0" err="1">
                <a:latin typeface="맑은 고딕"/>
              </a:rPr>
              <a:t>양의</a:t>
            </a:r>
            <a:r>
              <a:rPr sz="2400" dirty="0">
                <a:latin typeface="맑은 고딕"/>
              </a:rPr>
              <a:t> </a:t>
            </a:r>
            <a:r>
              <a:rPr sz="2400" dirty="0" err="1">
                <a:latin typeface="맑은 고딕"/>
              </a:rPr>
              <a:t>상관관계</a:t>
            </a:r>
            <a:r>
              <a:rPr lang="ko-KR" altLang="en-US" sz="2400" dirty="0">
                <a:latin typeface="맑은 고딕"/>
              </a:rPr>
              <a:t>가 보임</a:t>
            </a:r>
            <a:endParaRPr sz="2400" dirty="0">
              <a:latin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29D90-368A-5A9A-B8C1-3071ACD626A0}"/>
              </a:ext>
            </a:extLst>
          </p:cNvPr>
          <p:cNvSpPr txBox="1"/>
          <p:nvPr/>
        </p:nvSpPr>
        <p:spPr>
          <a:xfrm>
            <a:off x="145111" y="3124993"/>
            <a:ext cx="5161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 err="1">
                <a:latin typeface="맑은 고딕"/>
              </a:rPr>
              <a:t>ExitRates</a:t>
            </a:r>
            <a:r>
              <a:rPr lang="en-US" altLang="ko-KR" sz="2400" dirty="0">
                <a:latin typeface="맑은 고딕"/>
              </a:rPr>
              <a:t>(</a:t>
            </a:r>
            <a:r>
              <a:rPr lang="ko-KR" altLang="en-US" sz="2400" dirty="0" err="1">
                <a:latin typeface="맑은 고딕"/>
              </a:rPr>
              <a:t>종료율</a:t>
            </a:r>
            <a:r>
              <a:rPr lang="en-US" altLang="ko-KR" sz="2400" dirty="0">
                <a:latin typeface="맑은 고딕"/>
              </a:rPr>
              <a:t>)·</a:t>
            </a:r>
            <a:r>
              <a:rPr lang="en-US" altLang="ko-KR" sz="2400" dirty="0" err="1">
                <a:latin typeface="맑은 고딕"/>
              </a:rPr>
              <a:t>BounceRates</a:t>
            </a:r>
            <a:endParaRPr lang="en-US" altLang="ko-KR" sz="2400" dirty="0">
              <a:latin typeface="맑은 고딕"/>
            </a:endParaRPr>
          </a:p>
          <a:p>
            <a:r>
              <a:rPr lang="en-US" altLang="ko-KR" sz="2400" dirty="0">
                <a:latin typeface="맑은 고딕"/>
              </a:rPr>
              <a:t>(</a:t>
            </a:r>
            <a:r>
              <a:rPr lang="ko-KR" altLang="en-US" sz="2400" dirty="0" err="1">
                <a:latin typeface="맑은 고딕"/>
              </a:rPr>
              <a:t>이탈률</a:t>
            </a:r>
            <a:r>
              <a:rPr lang="en-US" altLang="ko-KR" sz="2400" dirty="0">
                <a:latin typeface="맑은 고딕"/>
              </a:rPr>
              <a:t>)</a:t>
            </a:r>
            <a:r>
              <a:rPr lang="ko-KR" altLang="en-US" sz="2400" dirty="0">
                <a:latin typeface="맑은 고딕"/>
              </a:rPr>
              <a:t>는 </a:t>
            </a:r>
            <a:r>
              <a:rPr lang="en-US" altLang="ko-KR" sz="2400" dirty="0">
                <a:latin typeface="맑은 고딕"/>
              </a:rPr>
              <a:t>Revenue</a:t>
            </a:r>
            <a:r>
              <a:rPr lang="ko-KR" altLang="en-US" sz="2400" dirty="0">
                <a:latin typeface="맑은 고딕"/>
              </a:rPr>
              <a:t>와 음의 상관관계가 보임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데이터 전처리 및 분할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• Revenue를 Target(y), 나머지 변수를 Feature(X)로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10607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• Month(방문 월) · VisitorType(방문자 유형) 등 범주형 변수 인코딩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72384"/>
            <a:ext cx="10607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• Train/Test(평가 데이터) 분리(80:20), Train 내부 Validation(검증 데이터)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77056"/>
            <a:ext cx="10607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• 모델 특성에 맞춰 StandardScaler 등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607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41414"/>
                </a:solidFill>
                <a:latin typeface="맑은 고딕"/>
              </a:defRPr>
            </a:pPr>
            <a:r>
              <a:t>• 최종 평가 시 학습과 동일한 컬럼 삭제 규칙 적용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기본 모델 성능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4B4B4B"/>
                </a:solidFill>
                <a:latin typeface="맑은 고딕"/>
              </a:defRPr>
            </a:pP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결과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646745"/>
              </p:ext>
            </p:extLst>
          </p:nvPr>
        </p:nvGraphicFramePr>
        <p:xfrm>
          <a:off x="731520" y="15087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(Accuracy)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정밀도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(Precision)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재현율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(Recall)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균형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점수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Dummy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/>
                        <a:t>0.8451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0.3613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0.4859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/>
                        <a:t>0.6533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Dummy는 구매 고객을 전혀 맞히지 못함 → 클래스 불균형에 대한 평가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머신러닝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480" y="1635754"/>
            <a:ext cx="106070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/>
              <a:t>• </a:t>
            </a:r>
            <a:r>
              <a:rPr sz="2000" dirty="0" err="1"/>
              <a:t>상품</a:t>
            </a:r>
            <a:r>
              <a:rPr sz="2000" dirty="0"/>
              <a:t> </a:t>
            </a:r>
            <a:r>
              <a:rPr sz="2000" dirty="0" err="1"/>
              <a:t>페이지</a:t>
            </a:r>
            <a:r>
              <a:rPr sz="2000" dirty="0"/>
              <a:t> </a:t>
            </a:r>
            <a:r>
              <a:rPr sz="2000" dirty="0" err="1"/>
              <a:t>체류시간</a:t>
            </a:r>
            <a:r>
              <a:rPr sz="2000" dirty="0"/>
              <a:t>(</a:t>
            </a:r>
            <a:r>
              <a:rPr sz="2000" dirty="0" err="1"/>
              <a:t>ProductRelated_Duration</a:t>
            </a:r>
            <a:r>
              <a:rPr sz="2000" dirty="0"/>
              <a:t>), </a:t>
            </a:r>
            <a:r>
              <a:rPr sz="2000" dirty="0" err="1"/>
              <a:t>이탈률</a:t>
            </a:r>
            <a:r>
              <a:rPr sz="2000" dirty="0"/>
              <a:t>(</a:t>
            </a:r>
            <a:r>
              <a:rPr sz="2000" dirty="0" err="1"/>
              <a:t>BounceRates</a:t>
            </a:r>
            <a:r>
              <a:rPr sz="2000" dirty="0"/>
              <a:t>) </a:t>
            </a:r>
            <a:r>
              <a:rPr sz="2000" dirty="0" err="1"/>
              <a:t>컬럼</a:t>
            </a:r>
            <a:r>
              <a:rPr sz="2000" dirty="0"/>
              <a:t> </a:t>
            </a:r>
            <a:r>
              <a:rPr sz="2000" dirty="0" err="1"/>
              <a:t>삭제</a:t>
            </a:r>
            <a:r>
              <a:rPr sz="2000" dirty="0"/>
              <a:t> </a:t>
            </a:r>
            <a:r>
              <a:rPr sz="2000" dirty="0" err="1"/>
              <a:t>비교</a:t>
            </a:r>
            <a:endParaRPr lang="en-US" sz="2000" dirty="0"/>
          </a:p>
          <a:p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구매</a:t>
            </a:r>
            <a:r>
              <a:rPr sz="2000" dirty="0"/>
              <a:t> </a:t>
            </a:r>
            <a:r>
              <a:rPr sz="2000" dirty="0" err="1"/>
              <a:t>고객</a:t>
            </a:r>
            <a:r>
              <a:rPr sz="2000" dirty="0"/>
              <a:t> </a:t>
            </a:r>
            <a:r>
              <a:rPr sz="2000" dirty="0" err="1"/>
              <a:t>가중치</a:t>
            </a:r>
            <a:r>
              <a:rPr sz="2000" dirty="0"/>
              <a:t> 1.3 · 1.5 · 2.0 </a:t>
            </a:r>
            <a:r>
              <a:rPr sz="2000" dirty="0" err="1"/>
              <a:t>실험</a:t>
            </a:r>
            <a:endParaRPr lang="en-US" sz="2000" dirty="0"/>
          </a:p>
          <a:p>
            <a:endParaRPr sz="2000" dirty="0"/>
          </a:p>
          <a:p>
            <a:r>
              <a:rPr sz="2000" dirty="0"/>
              <a:t>• 파생변수: 상품 페이지 평균 체류시간 · 상품 페이지 방문 비율</a:t>
            </a:r>
            <a:endParaRPr lang="en-US" sz="2000" dirty="0"/>
          </a:p>
          <a:p>
            <a:endParaRPr sz="2000" dirty="0"/>
          </a:p>
          <a:p>
            <a:r>
              <a:rPr sz="2000" dirty="0"/>
              <a:t>• Gradient Boosting / </a:t>
            </a:r>
            <a:r>
              <a:rPr sz="2000" dirty="0" err="1"/>
              <a:t>XGBoost의</a:t>
            </a:r>
            <a:r>
              <a:rPr sz="2000" dirty="0"/>
              <a:t> </a:t>
            </a:r>
            <a:r>
              <a:rPr sz="2000" dirty="0" err="1"/>
              <a:t>Optuna</a:t>
            </a:r>
            <a:r>
              <a:rPr sz="2000" dirty="0"/>
              <a:t>(</a:t>
            </a:r>
            <a:r>
              <a:rPr sz="2000" dirty="0" err="1"/>
              <a:t>자동</a:t>
            </a:r>
            <a:r>
              <a:rPr sz="2000" dirty="0"/>
              <a:t> </a:t>
            </a:r>
            <a:r>
              <a:rPr sz="2000" dirty="0" err="1"/>
              <a:t>최적화</a:t>
            </a:r>
            <a:r>
              <a:rPr sz="2000" dirty="0"/>
              <a:t>) </a:t>
            </a:r>
            <a:r>
              <a:rPr sz="2000" dirty="0" err="1"/>
              <a:t>탐색</a:t>
            </a:r>
            <a:endParaRPr lang="en-US" sz="2000" dirty="0"/>
          </a:p>
          <a:p>
            <a:endParaRPr sz="2000" dirty="0"/>
          </a:p>
          <a:p>
            <a:r>
              <a:rPr sz="2000" dirty="0"/>
              <a:t>• Recall(재현율)을 중시하면서 F1-score(균형 점수)와 Accuracy(정확도)도 함께 평가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맑은 고딕"/>
              </a:defRPr>
            </a:pPr>
            <a:r>
              <a:t>머신러닝 개선 실험 — Validation 성능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E1E1E"/>
                </a:solidFill>
                <a:latin typeface="맑은 고딕"/>
              </a:defRPr>
            </a:pPr>
            <a:r>
              <a:t>기존 Gradient Boosting 및 XGBoost 개선 실험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222611"/>
              </p:ext>
            </p:extLst>
          </p:nvPr>
        </p:nvGraphicFramePr>
        <p:xfrm>
          <a:off x="731520" y="169164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모델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 /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변경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내용</a:t>
                      </a:r>
                      <a:endParaRPr sz="110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정확도</a:t>
                      </a:r>
                      <a:endParaRPr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(Accuracy)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정밀도</a:t>
                      </a:r>
                      <a:endParaRPr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(Precision)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재현율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(Recall)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F1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-Score</a:t>
                      </a: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균형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점수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/>
                        <a:t>GB(그래디언트 부스팅) (컬럼 삭제 · 가중치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0.9047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0.7127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0.6426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000"/>
                        <a:t>GB(그래디언트 부스팅) (컬럼 삭제 · 가중치 2배)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0.8991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0.7508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latin typeface="맑은 고딕"/>
                        </a:rPr>
                        <a:t>XGBoost</a:t>
                      </a:r>
                      <a:r>
                        <a:rPr sz="1000" b="0" dirty="0">
                          <a:latin typeface="맑은 고딕"/>
                        </a:rPr>
                        <a:t> (</a:t>
                      </a:r>
                      <a:r>
                        <a:rPr sz="1000" b="0" dirty="0" err="1">
                          <a:latin typeface="맑은 고딕"/>
                        </a:rPr>
                        <a:t>파생변수</a:t>
                      </a:r>
                      <a:r>
                        <a:rPr sz="1000" b="0" dirty="0"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latin typeface="맑은 고딕"/>
                        </a:rPr>
                        <a:t>추가</a:t>
                      </a:r>
                      <a:r>
                        <a:rPr sz="1000" b="0" dirty="0">
                          <a:latin typeface="맑은 고딕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0.9007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0.7246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latin typeface="맑은 고딕"/>
                        </a:rPr>
                        <a:t>0.6928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맑은 고딕"/>
                        </a:rPr>
                        <a:t>Optuna XGBoost (최종 후보)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맑은 고딕"/>
                        </a:rPr>
                        <a:t>0.9047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맑은 고딕"/>
                        </a:rPr>
                        <a:t>0.6767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맑은 고딕"/>
                        </a:rPr>
                        <a:t>0.7344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맑은 고딕"/>
                        </a:rPr>
                        <a:t>0.7044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E1E1E"/>
                </a:solidFill>
                <a:latin typeface="맑은 고딕"/>
              </a:defRPr>
            </a:pPr>
            <a:r>
              <a:t>• 가중치 2배 적용 시 GB Recall 0.7508, F1-score 0.6971: 재현율 상승과 정밀도 하락을 함께 확인</a:t>
            </a:r>
          </a:p>
          <a:p>
            <a:r>
              <a:t>• 기본 GB F1 0.6533 → 최종 XGBoost F1 0.7044 (+0.0511, 모델·설정 변경을 포함한 비교)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DNN 성능 개선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86036"/>
              </p:ext>
            </p:extLst>
          </p:nvPr>
        </p:nvGraphicFramePr>
        <p:xfrm>
          <a:off x="731520" y="155448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DNN 실험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(Accuracy)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재현율</a:t>
                      </a:r>
                      <a:endParaRPr sz="11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(Recall)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균형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점수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기본</a:t>
                      </a:r>
                      <a:r>
                        <a:rPr dirty="0"/>
                        <a:t> MLP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기본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심층</a:t>
                      </a:r>
                      <a:r>
                        <a:rPr dirty="0"/>
                        <a:t> 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0.4951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0.5830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/>
                        <a:t>DNN + Scaler/</a:t>
                      </a:r>
                      <a:r>
                        <a:rPr dirty="0" err="1"/>
                        <a:t>파생변수</a:t>
                      </a:r>
                      <a:r>
                        <a:rPr dirty="0"/>
                        <a:t>/BN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dirty="0" err="1"/>
                        <a:t>Optuna</a:t>
                      </a:r>
                      <a:r>
                        <a:rPr dirty="0"/>
                        <a:t> DNN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0.6814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7567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맑은 고딕"/>
              </a:rPr>
              <a:t>• 층 수 </a:t>
            </a:r>
            <a:r>
              <a:rPr sz="1600" dirty="0" err="1">
                <a:latin typeface="맑은 고딕"/>
              </a:rPr>
              <a:t>증가가</a:t>
            </a:r>
            <a:r>
              <a:rPr sz="1600" dirty="0">
                <a:latin typeface="맑은 고딕"/>
              </a:rPr>
              <a:t> </a:t>
            </a:r>
            <a:r>
              <a:rPr sz="1600" dirty="0" err="1">
                <a:latin typeface="맑은 고딕"/>
              </a:rPr>
              <a:t>항상</a:t>
            </a:r>
            <a:r>
              <a:rPr sz="1600" dirty="0">
                <a:latin typeface="맑은 고딕"/>
              </a:rPr>
              <a:t> </a:t>
            </a:r>
            <a:r>
              <a:rPr sz="1600" dirty="0" err="1">
                <a:latin typeface="맑은 고딕"/>
              </a:rPr>
              <a:t>성능</a:t>
            </a:r>
            <a:r>
              <a:rPr sz="1600" dirty="0">
                <a:latin typeface="맑은 고딕"/>
              </a:rPr>
              <a:t> </a:t>
            </a:r>
            <a:r>
              <a:rPr sz="1600" dirty="0" err="1">
                <a:latin typeface="맑은 고딕"/>
              </a:rPr>
              <a:t>개선으로</a:t>
            </a:r>
            <a:r>
              <a:rPr sz="1600" dirty="0">
                <a:latin typeface="맑은 고딕"/>
              </a:rPr>
              <a:t> </a:t>
            </a:r>
            <a:r>
              <a:rPr sz="1600" dirty="0" err="1">
                <a:latin typeface="맑은 고딕"/>
              </a:rPr>
              <a:t>이어지지는</a:t>
            </a:r>
            <a:r>
              <a:rPr sz="1600" dirty="0">
                <a:latin typeface="맑은 고딕"/>
              </a:rPr>
              <a:t> </a:t>
            </a:r>
            <a:r>
              <a:rPr sz="1600" dirty="0" err="1">
                <a:latin typeface="맑은 고딕"/>
              </a:rPr>
              <a:t>않음</a:t>
            </a:r>
            <a:endParaRPr sz="1600" dirty="0"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DNN 학습 과정 — Loss 그래프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057400"/>
            <a:ext cx="3931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Train / Validation(검증 데이터) Loss(손실값) 동반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999232"/>
            <a:ext cx="3931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마지막 구간: Train Loss 약 0.28 / Validation Loss 약 0.26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941064"/>
            <a:ext cx="3931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Early Stopping으로 학습 종료, 검증 손실은 대체로 안정</a:t>
            </a:r>
          </a:p>
        </p:txBody>
      </p:sp>
      <p:pic>
        <p:nvPicPr>
          <p:cNvPr id="8" name="Picture 7" descr="_latest_dn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657572"/>
            <a:ext cx="7132320" cy="43200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 dirty="0" err="1">
                <a:solidFill>
                  <a:srgbClr val="1E1E1E"/>
                </a:solidFill>
                <a:latin typeface="맑은 고딕"/>
              </a:rPr>
              <a:t>Optuna</a:t>
            </a:r>
            <a:r>
              <a:rPr sz="3000" b="1" dirty="0">
                <a:solidFill>
                  <a:srgbClr val="1E1E1E"/>
                </a:solidFill>
                <a:latin typeface="맑은 고딕"/>
              </a:rPr>
              <a:t> DNN — 50회 </a:t>
            </a:r>
            <a:r>
              <a:rPr sz="3000" b="1" dirty="0" err="1">
                <a:solidFill>
                  <a:srgbClr val="1E1E1E"/>
                </a:solidFill>
                <a:latin typeface="맑은 고딕"/>
              </a:rPr>
              <a:t>탐색</a:t>
            </a:r>
            <a:r>
              <a:rPr sz="3000" b="1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E1E1E"/>
                </a:solidFill>
                <a:latin typeface="맑은 고딕"/>
              </a:rPr>
              <a:t>결과</a:t>
            </a:r>
            <a:endParaRPr sz="3000" b="1" dirty="0">
              <a:solidFill>
                <a:srgbClr val="1E1E1E"/>
              </a:solidFill>
              <a:latin typeface="맑은 고딕"/>
            </a:endParaRPr>
          </a:p>
        </p:txBody>
      </p:sp>
      <p:pic>
        <p:nvPicPr>
          <p:cNvPr id="3" name="Picture 2" descr="slide_notebook_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1" y="1097280"/>
            <a:ext cx="904341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7150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E1E1E"/>
                </a:solidFill>
                <a:latin typeface="맑은 고딕"/>
              </a:rPr>
              <a:t>•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파란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점: 각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실험의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점수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 | 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주황색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: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누적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최고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1E1E1E"/>
                </a:solidFill>
                <a:latin typeface="맑은 고딕"/>
              </a:rPr>
              <a:t>점수</a:t>
            </a:r>
            <a:r>
              <a:rPr sz="1600" b="0" dirty="0">
                <a:solidFill>
                  <a:srgbClr val="1E1E1E"/>
                </a:solidFill>
                <a:latin typeface="맑은 고딕"/>
              </a:rPr>
              <a:t> 약 0.6632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최종 후보 — Validation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10037"/>
              </p:ext>
            </p:extLst>
          </p:nvPr>
        </p:nvGraphicFramePr>
        <p:xfrm>
          <a:off x="731520" y="164592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정확도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(Accuracy)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정밀도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(Precision)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재현율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(Recall)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F1-score</a:t>
                      </a:r>
                    </a:p>
                    <a:p>
                      <a:r>
                        <a:rPr sz="1100">
                          <a:solidFill>
                            <a:schemeClr val="tx1"/>
                          </a:solidFill>
                        </a:rPr>
                        <a:t>(균형 점수)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ROC-AUC</a:t>
                      </a:r>
                    </a:p>
                    <a:p>
                      <a:r>
                        <a:rPr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구분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chemeClr val="tx1"/>
                          </a:solidFill>
                        </a:rPr>
                        <a:t>능력</a:t>
                      </a:r>
                      <a:r>
                        <a:rPr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Optuna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dirty="0" err="1"/>
                        <a:t>Optuna</a:t>
                      </a:r>
                      <a:r>
                        <a:rPr dirty="0"/>
                        <a:t> DNN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XGB 70% + DNN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0.9286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74920"/>
            <a:ext cx="1069848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Recall(재현율)을 중시하면서 F1-score와 Accuracy(정확도)도 함께 비교</a:t>
            </a:r>
          </a:p>
          <a:p>
            <a:r>
              <a:t>• 앙상블 Recall 0.7934로 가장 높지만 FP 147건, F1 0.6974 → XGBoost 선정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최종 Test — 혼동행렬</a:t>
            </a:r>
          </a:p>
        </p:txBody>
      </p:sp>
      <p:pic>
        <p:nvPicPr>
          <p:cNvPr id="4" name="Picture 3" descr="cell1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43224"/>
            <a:ext cx="6492240" cy="510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8288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TN(비구매 정답) 1,954 · FP(비구매→구매 오판) 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67004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FN(구매→비구매 오판) 133 · TP(구매 정답) 249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511296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실제 구매 382건 중 249건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52544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t>• 구매 고객 133건을 놓침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최종 Test — 성능 지표</a:t>
            </a:r>
          </a:p>
        </p:txBody>
      </p:sp>
      <p:pic>
        <p:nvPicPr>
          <p:cNvPr id="4" name="Picture 3" descr="cell12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23680"/>
            <a:ext cx="7680960" cy="423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691640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Accuracy(정확도) 0.8933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423160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Precision(정밀도) 0.6570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154680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Recall(재현율) 0.6518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886200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F1-score(정밀도·재현율 균형) 0.6544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617720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41414"/>
                </a:solidFill>
                <a:latin typeface="맑은 고딕"/>
              </a:defRPr>
            </a:pPr>
            <a:r>
              <a:t>• ROC-AUC(구분 능력) 0.9271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Validation과 Test 결과 해석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/>
                        <a:t>지표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 dirty="0"/>
                        <a:t>Validation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 dirty="0"/>
                        <a:t>Test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sz="1100"/>
                        <a:t>차이</a:t>
                      </a:r>
                    </a:p>
                  </a:txBody>
                  <a:tcPr>
                    <a:solidFill>
                      <a:srgbClr val="EB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t>정확도 (Accuracy)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0.8933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-0.0114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t>정밀도 (Precision)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-0.0197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t>재현율 (Recall)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-0.0826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t>F1-score (균형 점수)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0.7044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0.6544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-0.0500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t>ROC-AUC (구분 능력)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t>0.9271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41414"/>
                          </a:solidFill>
                          <a:latin typeface="맑은 고딕"/>
                        </a:defRPr>
                      </a:pPr>
                      <a:r>
                        <a:rPr dirty="0"/>
                        <a:t>-0.0004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303520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41414"/>
                </a:solidFill>
                <a:latin typeface="맑은 고딕"/>
              </a:defRPr>
            </a:pPr>
            <a:r>
              <a:rPr dirty="0"/>
              <a:t>• ROC-</a:t>
            </a:r>
            <a:r>
              <a:rPr dirty="0" err="1"/>
              <a:t>AUC는</a:t>
            </a:r>
            <a:r>
              <a:rPr dirty="0"/>
              <a:t> </a:t>
            </a:r>
            <a:r>
              <a:rPr dirty="0" err="1"/>
              <a:t>거의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,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임계값에서</a:t>
            </a:r>
            <a:r>
              <a:rPr dirty="0"/>
              <a:t> Recall·F1 </a:t>
            </a:r>
            <a:r>
              <a:rPr dirty="0" err="1"/>
              <a:t>하락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E1E1E"/>
                </a:solidFill>
                <a:latin typeface="맑은 고딕"/>
              </a:rPr>
              <a:t>오분류 분석 — FP와 FN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51560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• Test(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평가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데이터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전체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: FP(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비구매→구매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오판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 130건 / FN(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구매→비구매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오판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 133건</a:t>
            </a:r>
            <a:endParaRPr lang="en-US"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endParaRPr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• FP(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비구매→구매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오판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):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실제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비구매인데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예측한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경우</a:t>
            </a:r>
            <a:endParaRPr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  -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FP의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PageValues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기여한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페이지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가치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평균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26.97 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실제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전체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2.09)</a:t>
            </a:r>
            <a:endParaRPr lang="en-US"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endParaRPr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• FN(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구매→비구매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오판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):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실제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구매인데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비구매로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예측한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경우</a:t>
            </a:r>
            <a:endParaRPr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  -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FN의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PageValues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구매에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기여한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페이지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가치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)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평균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3.38 (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실제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전체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25.21)</a:t>
            </a:r>
            <a:endParaRPr lang="en-US"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endParaRPr sz="2000" b="0" dirty="0">
              <a:solidFill>
                <a:srgbClr val="1E1E1E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1E1E1E"/>
                </a:solidFill>
                <a:latin typeface="맑은 고딕"/>
              </a:rPr>
              <a:t>•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구매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행동이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비슷하거나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PageValues가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낮은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세션에서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오분류</a:t>
            </a:r>
            <a:r>
              <a:rPr sz="2000" b="0" dirty="0">
                <a:solidFill>
                  <a:srgbClr val="1E1E1E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1E1E1E"/>
                </a:solidFill>
                <a:latin typeface="맑은 고딕"/>
              </a:rPr>
              <a:t>발생</a:t>
            </a:r>
            <a:endParaRPr sz="2000" b="0" dirty="0">
              <a:solidFill>
                <a:srgbClr val="1E1E1E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</a:rPr>
              <a:t>오분류 분석 — FP / FN 예측 확률 분포</a:t>
            </a:r>
          </a:p>
        </p:txBody>
      </p:sp>
      <p:pic>
        <p:nvPicPr>
          <p:cNvPr id="3" name="Picture 2" descr="image(20261012-03011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844" y="1069848"/>
            <a:ext cx="907600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69671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dirty="0" err="1"/>
              <a:t>파란색</a:t>
            </a:r>
            <a:r>
              <a:rPr dirty="0"/>
              <a:t> FN(</a:t>
            </a:r>
            <a:r>
              <a:rPr dirty="0" err="1"/>
              <a:t>구매→비구매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):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구매했지만</a:t>
            </a:r>
            <a:r>
              <a:rPr dirty="0"/>
              <a:t> </a:t>
            </a:r>
            <a:r>
              <a:rPr dirty="0" err="1"/>
              <a:t>비구매로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 |  </a:t>
            </a:r>
            <a:r>
              <a:rPr dirty="0" err="1"/>
              <a:t>주황색</a:t>
            </a:r>
            <a:r>
              <a:rPr dirty="0"/>
              <a:t> FP(</a:t>
            </a:r>
            <a:r>
              <a:rPr dirty="0" err="1"/>
              <a:t>비구매→구매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):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비구매지만</a:t>
            </a:r>
            <a:r>
              <a:rPr dirty="0"/>
              <a:t> </a:t>
            </a:r>
            <a:r>
              <a:rPr dirty="0" err="1"/>
              <a:t>구매로</a:t>
            </a:r>
            <a:r>
              <a:rPr dirty="0"/>
              <a:t> </a:t>
            </a:r>
            <a:r>
              <a:rPr dirty="0" err="1"/>
              <a:t>예측</a:t>
            </a:r>
            <a:endParaRPr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dirty="0" err="1"/>
              <a:t>점선</a:t>
            </a:r>
            <a:r>
              <a:rPr dirty="0"/>
              <a:t> 0.50: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임계값</a:t>
            </a:r>
            <a:r>
              <a:rPr dirty="0"/>
              <a:t>  |  </a:t>
            </a:r>
            <a:r>
              <a:rPr dirty="0" err="1"/>
              <a:t>Test에서</a:t>
            </a:r>
            <a:r>
              <a:rPr dirty="0"/>
              <a:t> FP(</a:t>
            </a:r>
            <a:r>
              <a:rPr dirty="0" err="1"/>
              <a:t>비구매→구매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130건, FN(</a:t>
            </a:r>
            <a:r>
              <a:rPr dirty="0" err="1"/>
              <a:t>구매→비구매</a:t>
            </a:r>
            <a:r>
              <a:rPr dirty="0"/>
              <a:t> </a:t>
            </a:r>
            <a:r>
              <a:rPr lang="ko-KR" altLang="en-US" dirty="0"/>
              <a:t>잘못 판단</a:t>
            </a:r>
            <a:r>
              <a:rPr dirty="0"/>
              <a:t>) 133건 </a:t>
            </a:r>
            <a:r>
              <a:rPr dirty="0" err="1"/>
              <a:t>발생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E1E1E"/>
                </a:solidFill>
                <a:latin typeface="맑은 고딕"/>
              </a:rPr>
              <a:t>오분류 분석 — 방문자 유형과 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98448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</a:t>
            </a:r>
            <a:r>
              <a:rPr dirty="0" err="1"/>
              <a:t>재방문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: FP(</a:t>
            </a:r>
            <a:r>
              <a:rPr dirty="0" err="1"/>
              <a:t>비구매→구매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121건 / FN(</a:t>
            </a:r>
            <a:r>
              <a:rPr dirty="0" err="1"/>
              <a:t>구매→비구매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113건  | 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고객</a:t>
            </a:r>
            <a:r>
              <a:rPr dirty="0"/>
              <a:t>: FP(</a:t>
            </a:r>
            <a:r>
              <a:rPr dirty="0" err="1"/>
              <a:t>비구매→구매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9건 / FN(</a:t>
            </a:r>
            <a:r>
              <a:rPr dirty="0" err="1"/>
              <a:t>구매→비구매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20건</a:t>
            </a:r>
            <a:endParaRPr lang="en-US" dirty="0"/>
          </a:p>
          <a:p>
            <a:endParaRPr dirty="0"/>
          </a:p>
          <a:p>
            <a:r>
              <a:rPr dirty="0"/>
              <a:t>• 11월: FP(</a:t>
            </a:r>
            <a:r>
              <a:rPr dirty="0" err="1"/>
              <a:t>비구매→구매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49건 / FN(</a:t>
            </a:r>
            <a:r>
              <a:rPr dirty="0" err="1"/>
              <a:t>구매→비구매</a:t>
            </a:r>
            <a:r>
              <a:rPr dirty="0"/>
              <a:t> </a:t>
            </a:r>
            <a:r>
              <a:rPr dirty="0" err="1"/>
              <a:t>오판</a:t>
            </a:r>
            <a:r>
              <a:rPr dirty="0"/>
              <a:t>) 72건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00000"/>
                </a:solidFill>
                <a:latin typeface="맑은 고딕"/>
              </a:rPr>
              <a:t>오분류 분석 — TrafficType별 FP / FN</a:t>
            </a:r>
          </a:p>
        </p:txBody>
      </p:sp>
      <p:pic>
        <p:nvPicPr>
          <p:cNvPr id="3" name="Picture 2" descr="day6_chart_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754" y="1097280"/>
            <a:ext cx="8960186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3270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dirty="0">
                <a:solidFill>
                  <a:srgbClr val="000000"/>
                </a:solidFill>
                <a:latin typeface="맑은 고딕"/>
              </a:rPr>
              <a:t>•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TrafficType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유입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경로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유형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) 2에서 FP(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비구매→구매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오판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) 51건 / FN(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구매→비구매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오판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) 53건으로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오류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건수가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가장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많음</a:t>
            </a:r>
            <a:endParaRPr sz="1700" b="0" dirty="0">
              <a:solidFill>
                <a:srgbClr val="000000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000000"/>
                </a:solidFill>
                <a:latin typeface="맑은 고딕"/>
              </a:rPr>
              <a:t>•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유입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경로별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방문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수가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달라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오류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건수만으로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성능을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단정할</a:t>
            </a:r>
            <a:r>
              <a:rPr sz="1700" b="0" dirty="0">
                <a:solidFill>
                  <a:srgbClr val="000000"/>
                </a:solidFill>
                <a:latin typeface="맑은 고딕"/>
              </a:rPr>
              <a:t> 수 </a:t>
            </a:r>
            <a:r>
              <a:rPr sz="1700" b="0" dirty="0" err="1">
                <a:solidFill>
                  <a:srgbClr val="000000"/>
                </a:solidFill>
                <a:latin typeface="맑은 고딕"/>
              </a:rPr>
              <a:t>없음</a:t>
            </a:r>
            <a:endParaRPr sz="1700" b="0" dirty="0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000000"/>
                </a:solidFill>
                <a:latin typeface="맑은 고딕"/>
              </a:rPr>
              <a:t>오분류 분석 — VisitorType별 FN 비율</a:t>
            </a:r>
          </a:p>
        </p:txBody>
      </p:sp>
      <p:pic>
        <p:nvPicPr>
          <p:cNvPr id="3" name="Picture 2" descr="day6_chart_1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150" y="1097280"/>
            <a:ext cx="8983393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3270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맑은 고딕"/>
              </a:rPr>
              <a:t>• 재방문 고객 38.97%  |  신규 방문 고객 22.47%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00000"/>
                </a:solidFill>
                <a:latin typeface="맑은 고딕"/>
              </a:rPr>
              <a:t>• 실제 구매 고객 중 구매하지 않는다고 잘못 예측한 비율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latin typeface="맑은 고딕"/>
              </a:rPr>
              <a:t>EDA와 Feature Importance(변수 중요도)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24028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000000"/>
                </a:solidFill>
                <a:latin typeface="맑은 고딕"/>
              </a:rPr>
              <a:t>PageValues</a:t>
            </a:r>
            <a:endParaRPr lang="en-US" sz="1600" b="1" dirty="0">
              <a:solidFill>
                <a:srgbClr val="000000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구매에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기여한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페이지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가치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14173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구매 세션에서 높음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중요도 1위 (약 0.358)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24028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000000"/>
                </a:solidFill>
                <a:latin typeface="맑은 고딕"/>
              </a:rPr>
              <a:t>ExitRates</a:t>
            </a:r>
            <a:endParaRPr lang="en-US" sz="1200" b="1" dirty="0">
              <a:solidFill>
                <a:srgbClr val="000000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100" b="1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해당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페이지에서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사이트를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떠난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비율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비구매 세션에서 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774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상위 중요 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240280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 err="1">
                <a:solidFill>
                  <a:srgbClr val="000000"/>
                </a:solidFill>
                <a:latin typeface="맑은 고딕"/>
              </a:rPr>
              <a:t>ProductRelated</a:t>
            </a:r>
            <a:endParaRPr lang="en-US" sz="1600" b="1" dirty="0">
              <a:solidFill>
                <a:srgbClr val="000000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00000"/>
                </a:solidFill>
                <a:latin typeface="맑은 고딕"/>
              </a:rPr>
              <a:t>(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상품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관련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페이지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</a:rPr>
              <a:t>조회</a:t>
            </a:r>
            <a:r>
              <a:rPr sz="1100" b="1" dirty="0">
                <a:solidFill>
                  <a:srgbClr val="000000"/>
                </a:solidFill>
                <a:latin typeface="맑은 고딕"/>
              </a:rPr>
              <a:t> 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337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구매 세션에서 높음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33756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상위 중요 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2240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latin typeface="맑은 고딕"/>
              </a:rPr>
              <a:t>Month(방문 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297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dirty="0">
                <a:solidFill>
                  <a:srgbClr val="000000"/>
                </a:solidFill>
                <a:latin typeface="맑은 고딕"/>
              </a:rPr>
              <a:t>11월 </a:t>
            </a:r>
            <a:r>
              <a:rPr sz="1900" b="0" dirty="0" err="1">
                <a:solidFill>
                  <a:srgbClr val="000000"/>
                </a:solidFill>
                <a:latin typeface="맑은 고딕"/>
              </a:rPr>
              <a:t>구매율</a:t>
            </a:r>
            <a:r>
              <a:rPr sz="1900" b="0" dirty="0">
                <a:solidFill>
                  <a:srgbClr val="000000"/>
                </a:solidFill>
                <a:latin typeface="맑은 고딕"/>
              </a:rPr>
              <a:t> 약 25.35%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8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000000"/>
                </a:solidFill>
                <a:latin typeface="맑은 고딕"/>
              </a:rPr>
              <a:t>Month_Nov(11월 여부) 상위 중요 변수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E1E1E"/>
                </a:solidFill>
                <a:latin typeface="맑은 고딕"/>
              </a:rPr>
              <a:t>XGBoost 변수 중요도 — 주요 예측 변수</a:t>
            </a:r>
          </a:p>
        </p:txBody>
      </p:sp>
      <p:pic>
        <p:nvPicPr>
          <p:cNvPr id="3" name="Picture 2" descr="slide_notebook_1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004" y="1143000"/>
            <a:ext cx="7441511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57607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000000"/>
                </a:solidFill>
                <a:latin typeface="맑은 고딕"/>
              </a:rPr>
              <a:t>• PageValues(구매에 기여한 페이지 가치) 중요도 약 0.358로 1위  |  Month_Nov(11월 여부)·ExitRates(해당 페이지에서 사이트를 떠난 비율)·ProductRelated도 활용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최종 결론 및 고찰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latin typeface="맑은 고딕"/>
              </a:rPr>
              <a:t>• 문제: 방문 행동으로 구매 여부 예측  |  최종 모델: Optuna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latin typeface="맑은 고딕"/>
              </a:rPr>
              <a:t>• 개선: Recall(재현율) 중시 + F1·정확도 균형 → Validation F1 0.7044 (기본 GB 대비 +0.0511)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latin typeface="맑은 고딕"/>
              </a:rPr>
              <a:t>• 최종 Test: Accuracy(정확도) 0.8933 / Recall(재현율) 0.6518 / F1-score 0.6544 / ROC-AUC 0.9271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79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latin typeface="맑은 고딕"/>
              </a:rPr>
              <a:t>• 한계: 실제 구매 고객 133건을 놓침(FN), 특히 낮은 PageValues와 재방문 구매 세션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607040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latin typeface="맑은 고딕"/>
              </a:rPr>
              <a:t>• 향후: FP·FN의 실제 비용 비교, 임계값 재검증, 새로운 독립 평가 데이터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3197</Words>
  <Application>Microsoft Office PowerPoint</Application>
  <PresentationFormat>와이드스크린</PresentationFormat>
  <Paragraphs>391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김기열(컴퓨터공학부)</cp:lastModifiedBy>
  <cp:revision>34</cp:revision>
  <dcterms:created xsi:type="dcterms:W3CDTF">2013-01-27T09:14:16Z</dcterms:created>
  <dcterms:modified xsi:type="dcterms:W3CDTF">2026-10-12T07:42:09Z</dcterms:modified>
  <cp:category/>
</cp:coreProperties>
</file>